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76a7573581406c" /><Relationship Type="http://schemas.openxmlformats.org/officeDocument/2006/relationships/extended-properties" Target="/docProps/app.xml" Id="R67e605e309884daa" /><Relationship Type="http://schemas.openxmlformats.org/officeDocument/2006/relationships/officeDocument" Target="/ppt/presentation.xml" Id="Ra7eb40ff61274f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f6927d008e4c1b"/>
  </p:sldMasterIdLst>
  <p:notesMasterIdLst>
    <p:notesMasterId xmlns:r="http://schemas.openxmlformats.org/officeDocument/2006/relationships" r:id="Rb9678281d3fb4e0e"/>
  </p:notesMasterIdLst>
  <p:sldIdLst>
    <p:sldId xmlns:r="http://schemas.openxmlformats.org/officeDocument/2006/relationships" id="256" r:id="Rd812433208454d8b"/>
    <p:sldId xmlns:r="http://schemas.openxmlformats.org/officeDocument/2006/relationships" id="257" r:id="R20472fbda834430d"/>
    <p:sldId xmlns:r="http://schemas.openxmlformats.org/officeDocument/2006/relationships" id="258" r:id="R398e560722d042bb"/>
    <p:sldId xmlns:r="http://schemas.openxmlformats.org/officeDocument/2006/relationships" id="259" r:id="R41ad9edaaa474d23"/>
    <p:sldId xmlns:r="http://schemas.openxmlformats.org/officeDocument/2006/relationships" id="260" r:id="R48692325bc2045f9"/>
    <p:sldId xmlns:r="http://schemas.openxmlformats.org/officeDocument/2006/relationships" id="261" r:id="Rd4c3f570cf324c92"/>
    <p:sldId xmlns:r="http://schemas.openxmlformats.org/officeDocument/2006/relationships" id="262" r:id="R2aa799bda8d342b2"/>
    <p:sldId xmlns:r="http://schemas.openxmlformats.org/officeDocument/2006/relationships" id="263" r:id="R537959693ca242da"/>
    <p:sldId xmlns:r="http://schemas.openxmlformats.org/officeDocument/2006/relationships" id="264" r:id="R657e55727cfb4350"/>
    <p:sldId xmlns:r="http://schemas.openxmlformats.org/officeDocument/2006/relationships" id="265" r:id="R63b6ed8519d543d0"/>
    <p:sldId xmlns:r="http://schemas.openxmlformats.org/officeDocument/2006/relationships" id="266" r:id="R228aab5a590d47a4"/>
    <p:sldId xmlns:r="http://schemas.openxmlformats.org/officeDocument/2006/relationships" id="267" r:id="Rd018288decce4ac6"/>
    <p:sldId xmlns:r="http://schemas.openxmlformats.org/officeDocument/2006/relationships" id="268" r:id="R86c6bf39d6f54922"/>
    <p:sldId xmlns:r="http://schemas.openxmlformats.org/officeDocument/2006/relationships" id="269" r:id="Rcd7441a320264bbc"/>
    <p:sldId xmlns:r="http://schemas.openxmlformats.org/officeDocument/2006/relationships" id="270" r:id="Rc56e8178707e4223"/>
    <p:sldId xmlns:r="http://schemas.openxmlformats.org/officeDocument/2006/relationships" id="271" r:id="Rb7f913bff7af4592"/>
    <p:sldId xmlns:r="http://schemas.openxmlformats.org/officeDocument/2006/relationships" id="272" r:id="Rf7cd3e2a3a5e47ca"/>
    <p:sldId xmlns:r="http://schemas.openxmlformats.org/officeDocument/2006/relationships" id="273" r:id="R406517ec098d4428"/>
    <p:sldId xmlns:r="http://schemas.openxmlformats.org/officeDocument/2006/relationships" id="274" r:id="Re5a24b9daccd4eab"/>
    <p:sldId xmlns:r="http://schemas.openxmlformats.org/officeDocument/2006/relationships" id="275" r:id="Rd4744a0ae9204ae0"/>
    <p:sldId xmlns:r="http://schemas.openxmlformats.org/officeDocument/2006/relationships" id="276" r:id="Ra904d4d350314d3f"/>
    <p:sldId xmlns:r="http://schemas.openxmlformats.org/officeDocument/2006/relationships" id="277" r:id="R17267b0c8cf0458d"/>
    <p:sldId xmlns:r="http://schemas.openxmlformats.org/officeDocument/2006/relationships" id="278" r:id="R1255e330c90744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aefa10fc9e434d" /><Relationship Type="http://schemas.openxmlformats.org/officeDocument/2006/relationships/slideMaster" Target="/ppt/slideMasters/slideMaster1.xml" Id="R7ef6927d008e4c1b" /><Relationship Type="http://schemas.openxmlformats.org/officeDocument/2006/relationships/notesMaster" Target="/ppt/notesMasters/notesMaster1.xml" Id="Rb9678281d3fb4e0e" /><Relationship Type="http://schemas.openxmlformats.org/officeDocument/2006/relationships/presProps" Target="/ppt/presProps.xml" Id="Rba746e28257a4335" /><Relationship Type="http://schemas.openxmlformats.org/officeDocument/2006/relationships/tableStyles" Target="/ppt/tableStyles.xml" Id="R2b355a6e5140414b" /><Relationship Type="http://schemas.openxmlformats.org/officeDocument/2006/relationships/slide" Target="/ppt/slides/slide1.xml" Id="Rd812433208454d8b" /><Relationship Type="http://schemas.openxmlformats.org/officeDocument/2006/relationships/slide" Target="/ppt/slides/slide2.xml" Id="R20472fbda834430d" /><Relationship Type="http://schemas.openxmlformats.org/officeDocument/2006/relationships/slide" Target="/ppt/slides/slide3.xml" Id="R398e560722d042bb" /><Relationship Type="http://schemas.openxmlformats.org/officeDocument/2006/relationships/slide" Target="/ppt/slides/slide4.xml" Id="R41ad9edaaa474d23" /><Relationship Type="http://schemas.openxmlformats.org/officeDocument/2006/relationships/slide" Target="/ppt/slides/slide5.xml" Id="R48692325bc2045f9" /><Relationship Type="http://schemas.openxmlformats.org/officeDocument/2006/relationships/slide" Target="/ppt/slides/slide6.xml" Id="Rd4c3f570cf324c92" /><Relationship Type="http://schemas.openxmlformats.org/officeDocument/2006/relationships/slide" Target="/ppt/slides/slide7.xml" Id="R2aa799bda8d342b2" /><Relationship Type="http://schemas.openxmlformats.org/officeDocument/2006/relationships/slide" Target="/ppt/slides/slide8.xml" Id="R537959693ca242da" /><Relationship Type="http://schemas.openxmlformats.org/officeDocument/2006/relationships/slide" Target="/ppt/slides/slide9.xml" Id="R657e55727cfb4350" /><Relationship Type="http://schemas.openxmlformats.org/officeDocument/2006/relationships/slide" Target="/ppt/slides/slide10.xml" Id="R63b6ed8519d543d0" /><Relationship Type="http://schemas.openxmlformats.org/officeDocument/2006/relationships/slide" Target="/ppt/slides/slide11.xml" Id="R228aab5a590d47a4" /><Relationship Type="http://schemas.openxmlformats.org/officeDocument/2006/relationships/slide" Target="/ppt/slides/slide12.xml" Id="Rd018288decce4ac6" /><Relationship Type="http://schemas.openxmlformats.org/officeDocument/2006/relationships/slide" Target="/ppt/slides/slide13.xml" Id="R86c6bf39d6f54922" /><Relationship Type="http://schemas.openxmlformats.org/officeDocument/2006/relationships/slide" Target="/ppt/slides/slide14.xml" Id="Rcd7441a320264bbc" /><Relationship Type="http://schemas.openxmlformats.org/officeDocument/2006/relationships/slide" Target="/ppt/slides/slide15.xml" Id="Rc56e8178707e4223" /><Relationship Type="http://schemas.openxmlformats.org/officeDocument/2006/relationships/slide" Target="/ppt/slides/slide16.xml" Id="Rb7f913bff7af4592" /><Relationship Type="http://schemas.openxmlformats.org/officeDocument/2006/relationships/slide" Target="/ppt/slides/slide17.xml" Id="Rf7cd3e2a3a5e47ca" /><Relationship Type="http://schemas.openxmlformats.org/officeDocument/2006/relationships/slide" Target="/ppt/slides/slide18.xml" Id="R406517ec098d4428" /><Relationship Type="http://schemas.openxmlformats.org/officeDocument/2006/relationships/slide" Target="/ppt/slides/slide19.xml" Id="Re5a24b9daccd4eab" /><Relationship Type="http://schemas.openxmlformats.org/officeDocument/2006/relationships/slide" Target="/ppt/slides/slide20.xml" Id="Rd4744a0ae9204ae0" /><Relationship Type="http://schemas.openxmlformats.org/officeDocument/2006/relationships/slide" Target="/ppt/slides/slide21.xml" Id="Ra904d4d350314d3f" /><Relationship Type="http://schemas.openxmlformats.org/officeDocument/2006/relationships/slide" Target="/ppt/slides/slide22.xml" Id="R17267b0c8cf0458d" /><Relationship Type="http://schemas.openxmlformats.org/officeDocument/2006/relationships/slide" Target="/ppt/slides/slide23.xml" Id="R1255e330c90744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6b5cf98a5a45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73b6aaa9394044" /><Relationship Type="http://schemas.openxmlformats.org/officeDocument/2006/relationships/notesMaster" Target="/ppt/notesMasters/notesMaster1.xml" Id="R53291e83d98341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cad9c5fdaf4dfc" /><Relationship Type="http://schemas.openxmlformats.org/officeDocument/2006/relationships/notesMaster" Target="/ppt/notesMasters/notesMaster1.xml" Id="Rda391f2445cd4c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b0f2e546124b3b" /><Relationship Type="http://schemas.openxmlformats.org/officeDocument/2006/relationships/notesMaster" Target="/ppt/notesMasters/notesMaster1.xml" Id="R225e82ca54a149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5a43d857c049c7" /><Relationship Type="http://schemas.openxmlformats.org/officeDocument/2006/relationships/notesMaster" Target="/ppt/notesMasters/notesMaster1.xml" Id="R2a1addfd90714d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04d29a694c426c" /><Relationship Type="http://schemas.openxmlformats.org/officeDocument/2006/relationships/notesMaster" Target="/ppt/notesMasters/notesMaster1.xml" Id="R0c43a78696af41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c2b728706e4f03" /><Relationship Type="http://schemas.openxmlformats.org/officeDocument/2006/relationships/notesMaster" Target="/ppt/notesMasters/notesMaster1.xml" Id="R113f9bd3a87541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373711460a47dd" /><Relationship Type="http://schemas.openxmlformats.org/officeDocument/2006/relationships/notesMaster" Target="/ppt/notesMasters/notesMaster1.xml" Id="R973b340e903846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d130f7df9b4dfd" /><Relationship Type="http://schemas.openxmlformats.org/officeDocument/2006/relationships/notesMaster" Target="/ppt/notesMasters/notesMaster1.xml" Id="R4806c68ec4ad42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849992959144ca" /><Relationship Type="http://schemas.openxmlformats.org/officeDocument/2006/relationships/notesMaster" Target="/ppt/notesMasters/notesMaster1.xml" Id="Race8acb8e3c544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003e77d3764064" /><Relationship Type="http://schemas.openxmlformats.org/officeDocument/2006/relationships/notesMaster" Target="/ppt/notesMasters/notesMaster1.xml" Id="Redf021dd8ce34d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88a14fef994962" /><Relationship Type="http://schemas.openxmlformats.org/officeDocument/2006/relationships/notesMaster" Target="/ppt/notesMasters/notesMaster1.xml" Id="Rcb1262e2412349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88957460df417f" /><Relationship Type="http://schemas.openxmlformats.org/officeDocument/2006/relationships/notesMaster" Target="/ppt/notesMasters/notesMaster1.xml" Id="R46ce52d9f8384e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d27505943e4cbc" /><Relationship Type="http://schemas.openxmlformats.org/officeDocument/2006/relationships/notesMaster" Target="/ppt/notesMasters/notesMaster1.xml" Id="R838122bba36f46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4ec8d3a9189492c" /><Relationship Type="http://schemas.openxmlformats.org/officeDocument/2006/relationships/notesMaster" Target="/ppt/notesMasters/notesMaster1.xml" Id="R130a5b1cac4c4b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58f93001c7c42db" /><Relationship Type="http://schemas.openxmlformats.org/officeDocument/2006/relationships/notesMaster" Target="/ppt/notesMasters/notesMaster1.xml" Id="R230ce32ef5804e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979717e3b1545d9" /><Relationship Type="http://schemas.openxmlformats.org/officeDocument/2006/relationships/notesMaster" Target="/ppt/notesMasters/notesMaster1.xml" Id="R2a0fe3d62b724af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2d10c9500ad4267" /><Relationship Type="http://schemas.openxmlformats.org/officeDocument/2006/relationships/notesMaster" Target="/ppt/notesMasters/notesMaster1.xml" Id="Rf861c747cfae4fc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3d4621086fd45aa" /><Relationship Type="http://schemas.openxmlformats.org/officeDocument/2006/relationships/notesMaster" Target="/ppt/notesMasters/notesMaster1.xml" Id="R2523cea9d35d489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bb6d38362d741b5" /><Relationship Type="http://schemas.openxmlformats.org/officeDocument/2006/relationships/notesMaster" Target="/ppt/notesMasters/notesMaster1.xml" Id="Rc51da4f1b72542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37eada9a19b4288" /><Relationship Type="http://schemas.openxmlformats.org/officeDocument/2006/relationships/notesMaster" Target="/ppt/notesMasters/notesMaster1.xml" Id="Rc58aeb13dfff4de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88ab970b4994196" /><Relationship Type="http://schemas.openxmlformats.org/officeDocument/2006/relationships/notesMaster" Target="/ppt/notesMasters/notesMaster1.xml" Id="R41395aeb03fa4d8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3cb7f6916b14eca" /><Relationship Type="http://schemas.openxmlformats.org/officeDocument/2006/relationships/notesMaster" Target="/ppt/notesMasters/notesMaster1.xml" Id="R3e8c8324fee241b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5286e02e48947c1" /><Relationship Type="http://schemas.openxmlformats.org/officeDocument/2006/relationships/notesMaster" Target="/ppt/notesMasters/notesMaster1.xml" Id="Rf3237835b1a943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https://huggingface.co/jhgan/ko-sroberta-multitask</a:t>
            </a:r>
          </a:p>
          <a:p xmlns:a="http://schemas.openxmlformats.org/drawingml/2006/main">
            <a:r>
              <a:t>- ai/app/rag/service.py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https://open.law.go.kr/</a:t>
            </a:r>
          </a:p>
          <a:p xmlns:a="http://schemas.openxmlformats.org/drawingml/2006/main">
            <a:r>
              <a:t>- ai/scripts/sync_laws.py</a:t>
            </a:r>
          </a:p>
          <a:p xmlns:a="http://schemas.openxmlformats.org/drawingml/2006/main">
            <a:r>
              <a:t>- docs/LAW_DATA_PIPELINE.md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faa560bef49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b93a88c4f040a2" /><Relationship Type="http://schemas.openxmlformats.org/officeDocument/2006/relationships/slideLayout" Target="/ppt/slideLayouts/slideLayout1.xml" Id="Rf9000454d0de49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000454d0de49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eb487f3344bec" /><Relationship Type="http://schemas.openxmlformats.org/officeDocument/2006/relationships/notesSlide" Target="/ppt/notesSlides/notesSlide1.xml" Id="R95200a356c0a4d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3f515ef9a4d69" /><Relationship Type="http://schemas.openxmlformats.org/officeDocument/2006/relationships/notesSlide" Target="/ppt/notesSlides/notesSlide2.xml" Id="R37e12f5b004341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5424211594ad1" /><Relationship Type="http://schemas.openxmlformats.org/officeDocument/2006/relationships/notesSlide" Target="/ppt/notesSlides/notesSlide3.xml" Id="R5cb567a827b64c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f8bd604e74be3" /><Relationship Type="http://schemas.openxmlformats.org/officeDocument/2006/relationships/notesSlide" Target="/ppt/notesSlides/notesSlide4.xml" Id="R3290f21f323046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34ec0c27d429c" /><Relationship Type="http://schemas.openxmlformats.org/officeDocument/2006/relationships/notesSlide" Target="/ppt/notesSlides/notesSlide5.xml" Id="R80141eb7207f4f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a9cea51fd4b2e" /><Relationship Type="http://schemas.openxmlformats.org/officeDocument/2006/relationships/notesSlide" Target="/ppt/notesSlides/notesSlide6.xml" Id="R00912a35123b45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7e3fe45754ad6" /><Relationship Type="http://schemas.openxmlformats.org/officeDocument/2006/relationships/notesSlide" Target="/ppt/notesSlides/notesSlide7.xml" Id="Rf0ede9620b6c41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798c6899847d7" /><Relationship Type="http://schemas.openxmlformats.org/officeDocument/2006/relationships/notesSlide" Target="/ppt/notesSlides/notesSlide8.xml" Id="Rac54054097804c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8cb1c4c474b74" /><Relationship Type="http://schemas.openxmlformats.org/officeDocument/2006/relationships/notesSlide" Target="/ppt/notesSlides/notesSlide9.xml" Id="R278db7ebd94d44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5dfe367b04805" /><Relationship Type="http://schemas.openxmlformats.org/officeDocument/2006/relationships/notesSlide" Target="/ppt/notesSlides/notesSlide10.xml" Id="R66408f87e1fd4d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9d59dc810428f" /><Relationship Type="http://schemas.openxmlformats.org/officeDocument/2006/relationships/notesSlide" Target="/ppt/notesSlides/notesSlide11.xml" Id="R4a3f7ef4c39741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6c86bdf3a4be2" /><Relationship Type="http://schemas.openxmlformats.org/officeDocument/2006/relationships/notesSlide" Target="/ppt/notesSlides/notesSlide12.xml" Id="R271f02f0ce944d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b679921334f3b" /><Relationship Type="http://schemas.openxmlformats.org/officeDocument/2006/relationships/notesSlide" Target="/ppt/notesSlides/notesSlide13.xml" Id="R04de38bcd2e249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4a543fc3c463a" /><Relationship Type="http://schemas.openxmlformats.org/officeDocument/2006/relationships/notesSlide" Target="/ppt/notesSlides/notesSlide14.xml" Id="Rbb46e1003a1d49b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2df7b26c549ae" /><Relationship Type="http://schemas.openxmlformats.org/officeDocument/2006/relationships/notesSlide" Target="/ppt/notesSlides/notesSlide15.xml" Id="R880189f83835487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d2492f7824d6c" /><Relationship Type="http://schemas.openxmlformats.org/officeDocument/2006/relationships/notesSlide" Target="/ppt/notesSlides/notesSlide16.xml" Id="R3753d06ca7f94c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67f75776749bb" /><Relationship Type="http://schemas.openxmlformats.org/officeDocument/2006/relationships/notesSlide" Target="/ppt/notesSlides/notesSlide17.xml" Id="R937ba019a777483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02fb66a824df8" /><Relationship Type="http://schemas.openxmlformats.org/officeDocument/2006/relationships/notesSlide" Target="/ppt/notesSlides/notesSlide18.xml" Id="Rf230b77d382f42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19bf1a0a44c56" /><Relationship Type="http://schemas.openxmlformats.org/officeDocument/2006/relationships/notesSlide" Target="/ppt/notesSlides/notesSlide19.xml" Id="R6937e09aef064da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2025fca98446e" /><Relationship Type="http://schemas.openxmlformats.org/officeDocument/2006/relationships/notesSlide" Target="/ppt/notesSlides/notesSlide20.xml" Id="Ree6820d3bb1c4a5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40a80b8104498" /><Relationship Type="http://schemas.openxmlformats.org/officeDocument/2006/relationships/notesSlide" Target="/ppt/notesSlides/notesSlide21.xml" Id="Ra6167a0c89a34e5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3543f68964372" /><Relationship Type="http://schemas.openxmlformats.org/officeDocument/2006/relationships/notesSlide" Target="/ppt/notesSlides/notesSlide22.xml" Id="R79449bdbaf5f498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c723b30b640ee" /><Relationship Type="http://schemas.openxmlformats.org/officeDocument/2006/relationships/notesSlide" Target="/ppt/notesSlides/notesSlide23.xml" Id="R2e600760b2b741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01388-DCAD-4170-B30E-BA035773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37058-02FE-4862-80E5-B58B4198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LAWZIC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41132-89C8-41B7-AB7F-5AB7507F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685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Agentic RAG 기반</a:t>
            </a:r>
          </a:p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근로계약서 위험조항 분석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92A4B-D84C-4AF8-BC61-22FC0D16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2476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E112B-47C9-4AFF-8F35-28181448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8953500" y="24288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2563EB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A4884-9F69-4069-A532-8DCC6F6A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9875"/>
            <a:ext cx="180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분석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검증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상담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리포트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98644-3C27-42CB-9331-5C67947F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프로젝트 보고서 · 2026</a:t>
            </a:r>
          </a:p>
        </p:txBody>
      </p:sp>
    </p:spTree>
    <p:extLst>
      <p:ext uri="{BB962C8B-B14F-4D97-AF65-F5344CB8AC3E}">
        <p14:creationId xmlns:p14="http://schemas.microsoft.com/office/powerpoint/2010/main" val="11447179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BEE3D7-1D21-43DF-8808-23F80693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목차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0A981-8D7B-4566-924B-937DF268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7C414-4D65-4288-A8C6-7751AAB6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333500" y="149542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66D72-2474-4BC1-8C6F-653395E9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333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프로젝트 개요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84761-37D1-4C8F-BF20-1B1A8ECF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333500" y="199072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B47C5-57C0-410C-8EFE-01A8259E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288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서비스 기획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9B9B0-5FF6-4F11-83D1-36733F71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1333500" y="248602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88B97-886A-4582-A7B5-89B63F78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24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서비스 설계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9DF96-2897-4D65-812C-2FEA3032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333500" y="298132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1B711-9A01-4574-91F3-088519E1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194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기술 스택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17DF4-5F0D-4716-BF21-00132FBD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333500" y="347662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0B7C2-65B1-4173-8645-BBEBF1CD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147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워크플로 에이전트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4CA337-2102-4DE3-963D-06CE1670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333500" y="397192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CEA17-97AB-4ECF-B236-D7E485C5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0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상담봇·법령 RAG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B4B86-F629-49C9-8CD7-2C6C39EF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333500" y="446722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46852E-45B6-4EF8-867F-9D1B5858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053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테스트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B1E2BD-53C7-4879-B0C0-828ED9DC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333500" y="496252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1ABFE5-12B8-4EDA-8F77-961F27D2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006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트러블슈팅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6336AA-8567-4DF9-A1E1-DBE5BD08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1333500" y="545782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EB190F-456D-40BD-B95B-08691C72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959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소감</a:t>
            </a:r>
          </a:p>
        </p:txBody>
      </p:sp>
    </p:spTree>
    <p:extLst>
      <p:ext uri="{BB962C8B-B14F-4D97-AF65-F5344CB8AC3E}">
        <p14:creationId xmlns:p14="http://schemas.microsoft.com/office/powerpoint/2010/main" val="15630694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5A6A6C-3ED1-4693-B88A-5B0F3AE3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프로젝트 개요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4C4F6-B71D-41E5-AE53-98469E50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E5FF9-72FD-4E70-B6A1-F9C846ED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3AC65-7898-44BE-A72F-3B2677F9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추진 배경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2B097-F41A-4941-909B-4B993F87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57375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72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근로계약서는 중요한 권리·의무를 담지만,</a:t>
            </a:r>
          </a:p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비전문가가 위험 조항과 법적 근거를 스스로</a:t>
            </a:r>
          </a:p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찾고 해석하기는 어렵다.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CED02-D083-499B-95AE-FD0BCC40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953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2D0DC-3F15-42E8-965A-31CED07A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문제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F5759-EFFA-413B-A083-A8CA8338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5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긴 문서 · 어려운 법률 용어 · 분산된 근거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2125C-A1D5-4AC6-BF95-FE2348A3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53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C948C-3F3B-45DB-9054-1F1959AE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해결 방향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E7287-BF8E-45E1-963F-494619B5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481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업로드 한 번으로 위험 탐지부터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출처·대체 문구까지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9E300-4390-4319-BBDE-DDA6FEA4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의의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BE845-0F1E-41D7-9A19-1A14CDB5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규칙 기반 분석과 RAG·LLM을 상호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12405-1936-44C7-88EE-95EA201D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0125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결과를 ‘판단’이 아닌 설명 가능한 참고 정보로 제공</a:t>
            </a:r>
          </a:p>
        </p:txBody>
      </p:sp>
    </p:spTree>
    <p:extLst>
      <p:ext uri="{BB962C8B-B14F-4D97-AF65-F5344CB8AC3E}">
        <p14:creationId xmlns:p14="http://schemas.microsoft.com/office/powerpoint/2010/main" val="10525765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D74BB-51CF-4153-BEC1-1C32B952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핵심 기능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58D36-999A-4003-90A2-A67D040C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71E6D-4776-4CDA-AF11-FFA1F301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83D73-0BC7-4F95-BD0F-D196FFDE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  계약 관리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28B76-B89E-419A-AD9E-BD8CDCF1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2905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PDF 업로드·검증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목록/상세/이력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 상태·취소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E443E-6586-4E99-8334-A456DC8E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AD877-DB07-47D6-9D6D-37F28E37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52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  AI 분석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2A943-7AE3-4384-965C-60EF0970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19375"/>
            <a:ext cx="2905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위험 조항 탐지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위험 점수·등급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법령 근거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8434B-0AD7-4EF3-B7E9-DC925DC2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6687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AB895-4579-4C12-9CE4-9521C961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03  결과 활용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DD36B-F1F8-41DF-BE9F-F7C5CD73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19375"/>
            <a:ext cx="2905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체크리스트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질의응답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수정 문구·PDF 리포트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D477C-9FA2-4F15-AC4D-F4F4F7E2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인증 기반 소유권 검증을 모든 계약·분석 조회에 적용</a:t>
            </a:r>
          </a:p>
        </p:txBody>
      </p:sp>
    </p:spTree>
    <p:extLst>
      <p:ext uri="{BB962C8B-B14F-4D97-AF65-F5344CB8AC3E}">
        <p14:creationId xmlns:p14="http://schemas.microsoft.com/office/powerpoint/2010/main" val="17534453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B7543-AA8F-4524-B578-0E737C05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기대 효과 및 발전 방향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8F3C2-FC60-49EB-A80E-B21373F4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2A69F-CBE2-45F8-A1F2-45CDC835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기대효과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95300" y="2143125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D1A8C-38B2-4D99-88F0-AB8A3256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28875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검토 시간 단축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위험 조항 누락 감소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근거 중심 의사결정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15A13-13E1-4E9C-987D-A0FB4C6C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향후 발전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305300" y="2143125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E9EAB-CB75-49F5-9763-035C224C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28875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스캔 PDF OCR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Refresh Token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 작업 이력·관측성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37AC0-0FAC-4D3F-8F94-ECB8524F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운영 고도화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8115300" y="2143125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5332A-F20B-4970-9027-19ABAA89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28875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Flyway 마이그레이션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공식 법령 자동 동기화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전문가 검토 연계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A7864-B7A8-4AF2-A701-6EA443C9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목표: 빠른 분석을 넘어, 근거가 추적되고 운영 변경에 견디는 서비스</a:t>
            </a:r>
          </a:p>
        </p:txBody>
      </p:sp>
    </p:spTree>
    <p:extLst>
      <p:ext uri="{BB962C8B-B14F-4D97-AF65-F5344CB8AC3E}">
        <p14:creationId xmlns:p14="http://schemas.microsoft.com/office/powerpoint/2010/main" val="6239700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A693E5-028B-4809-B26B-1E3BE9C2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서비스 기획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9D138-BDE0-4EC2-9F6F-0707E324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67BDB-143E-4225-96EF-54C0ECEE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핵심 사용자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827C3-6B90-4905-AEEB-EDBAA3CE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6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근로계약서를 처음 검토하는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구직자·근로자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3714750" y="3000375"/>
            <a:ext cx="7239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BD5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3283A-5D56-4929-B072-05FD1059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E2622-4463-4EE6-BB64-5518BD15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908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B5F22-5FA0-45A0-9953-CBF0642F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195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계약서 업로드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C424C-962D-4D05-A8D5-26DB5B84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91233-1F96-43B6-B5FA-B7FF2F6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908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B2F46-9E84-45F6-9E57-DC25B4BD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195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 진행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A3E54-18FA-4110-99F8-2F356A60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0FB5C-0C2A-4DFB-84BE-B2D2622C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908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D72DD-424B-4083-8AF3-F5ADB58A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195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위험·근거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1DA50-BB66-42A4-9ECB-A51B64E6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583D2-D59B-4439-A7DA-117A5DF7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7908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59C625-BCF5-49E1-97D6-8DAAB2F0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6195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질문·수정안 활용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CEC9D-D787-4A8E-AC61-F656BDB0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1038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9F49E-49D3-4474-8881-473ED829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기획 원칙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4B3AA-E925-4BBC-BBCC-15515CBC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입력은 단순하게 · 결과는 근거와 함께 · 실패/취소 상태는 명확하게</a:t>
            </a:r>
          </a:p>
        </p:txBody>
      </p:sp>
    </p:spTree>
    <p:extLst>
      <p:ext uri="{BB962C8B-B14F-4D97-AF65-F5344CB8AC3E}">
        <p14:creationId xmlns:p14="http://schemas.microsoft.com/office/powerpoint/2010/main" val="9097167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10F35-9765-4DB4-8B5C-85C04CA4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시스템 아키텍처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BE3CC-E280-4258-963B-B6778552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cxnSp>
        <p:nvCxnSpPr>
          <p:cNvPr id="20" name=""/>
          <p:cNvCxnSpPr/>
          <p:nvPr/>
        </p:nvCxnSpPr>
        <p:spPr>
          <a:xfrm xmlns:a="http://schemas.openxmlformats.org/drawingml/2006/main">
            <a:off x="3333750" y="32861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cxnSp>
        <p:nvCxnSpPr>
          <p:cNvPr id="21" name=""/>
          <p:cNvCxnSpPr/>
          <p:nvPr/>
        </p:nvCxnSpPr>
        <p:spPr>
          <a:xfrm xmlns:a="http://schemas.openxmlformats.org/drawingml/2006/main">
            <a:off x="7524750" y="32861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96E4B-CE28-4243-94D5-A85122D3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3048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4DE94-5F51-443D-9E62-8E5D93AD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 + Vite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A8FC8-3337-4243-B6AC-DD590D6A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화면·상태 관리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JWT 요청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결과 시각화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0F99A-8064-43E6-8C57-E82F253B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048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18989-EF83-43E5-B2D2-1EE77C81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33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Spring Boot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75D20-903F-48AD-87E1-92F519FC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003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인증·권한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계약/메타데이터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연동·저장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DCC8B-B3FF-4E63-8983-80CE9C11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3048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13264-A41D-413C-9F40-7E795939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33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FastAPI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A5A98-FEB3-4D4E-9302-E0F61D90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003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PDF 텍스트 추출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규칙·RAG·LLM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리포트 생성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FDA46-3742-4CD2-B051-6A31B725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48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MariaDB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7C940-727F-44E2-992D-0A4C3C9B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482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사용자 · 계약 · 분석 · 상담 이력</a:t>
            </a:r>
          </a:p>
        </p:txBody>
      </p:sp>
    </p:spTree>
    <p:extLst>
      <p:ext uri="{BB962C8B-B14F-4D97-AF65-F5344CB8AC3E}">
        <p14:creationId xmlns:p14="http://schemas.microsoft.com/office/powerpoint/2010/main" val="8782751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9D67A-D219-41BF-9BD4-90F260C2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기술 스택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233DB-B818-4713-BB72-068F6322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EB2C2-6910-4C8C-9E2B-C635EE77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문서 처리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95300" y="197167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37F69-9DF6-4F47-9175-4F05F723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252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FastAPI · PyMuPDF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646CE-4392-41D1-8407-900B0C17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00375"/>
            <a:ext cx="2524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PDF 텍스트·페이지 좌표 추출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9962D-82B9-4287-A5DE-D4ADE8FD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24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의미 검색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3352800" y="197167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59405-A758-4DA3-B69F-ABAE65B2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38375"/>
            <a:ext cx="252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5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Ko-SRoBERTa · ChromaDB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4524A-D0E7-470D-BEA9-257FBCDE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00375"/>
            <a:ext cx="2524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한국어 문장 임베딩·법령 검색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6178B-849B-4736-B681-F760F1A2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24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오케스트레이션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6210300" y="197167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3715F-CBBE-4DBA-A7E3-9019F9E3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38375"/>
            <a:ext cx="252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90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LangGraph · StateGraph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43F8D-D04F-4DEE-B232-BF3580D6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0375"/>
            <a:ext cx="2524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상태 관리·조건 분기·폴백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09A80-F691-4246-9877-695686FE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24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생성·판단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9067800" y="197167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20E90E-8797-4BA4-AA53-C7B7C6A0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38375"/>
            <a:ext cx="252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Ollama · Gemma2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5FAEC-81F2-409C-91B6-54D5B47E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00375"/>
            <a:ext cx="2524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구조화 분석·상담 답변 생성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607BFF-4AA6-42A3-8E42-F7A1C66A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10668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7D58D9-13DE-4831-9187-C1442DB4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설계 원칙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DC344C-26F3-4D25-A9EC-3D989466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672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한 모델이 모든 판단을 맡지 않는다. 규칙·검색·LLM 결과를 분리하고 마지막 단계에서 상호 검증한다.</a:t>
            </a:r>
          </a:p>
        </p:txBody>
      </p:sp>
    </p:spTree>
    <p:extLst>
      <p:ext uri="{BB962C8B-B14F-4D97-AF65-F5344CB8AC3E}">
        <p14:creationId xmlns:p14="http://schemas.microsoft.com/office/powerpoint/2010/main" val="19511856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CFB3FB-3ABB-46DD-B77E-60667567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논리 ERD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E6152-9FAD-419D-9BC5-3759C39D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6096000" y="319087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1809750" y="3714750"/>
            <a:ext cx="857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1809750" y="37147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4381500" y="37147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7810500" y="37147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10382250" y="37147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7429500" y="2714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7905750" y="21907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7905750" y="2190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A4285-A6EF-4A43-A281-A7587CF6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2667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B25E8-A5EF-4C8B-9BCB-AE8834EF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050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사용자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CC867-CDC3-4CC5-B705-572C5B1B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945BE-4091-432E-B8BD-9627522D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계약서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65006-0469-47FC-BBDA-B5B93D29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30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AD9A0-C8C1-4070-A5CB-0A90C0AA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97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 결과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4534AB-789F-4793-9E68-0A7B5959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7291C9-06AB-4A09-B0C2-7BDED311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197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상담 이력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C9E094-4930-4BB4-9689-8E389FA4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957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DD6EEB-5C41-4657-A059-CE45B057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624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소셜 계정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7A8877-E20E-412F-8732-AE49AC7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441BE9-9ACD-4947-9D8C-41266E95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재설정/로그인 토큰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D55431-77A3-4561-88C5-AE464A26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718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1:N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3A5812-B3E8-43FE-87C8-4B3FED5E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338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1:1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397474-BF45-4ACF-A79E-175A1AFE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338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1:N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97CA67-1767-42EE-967F-98619748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718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1:N</a:t>
            </a:r>
          </a:p>
        </p:txBody>
      </p:sp>
    </p:spTree>
    <p:extLst>
      <p:ext uri="{BB962C8B-B14F-4D97-AF65-F5344CB8AC3E}">
        <p14:creationId xmlns:p14="http://schemas.microsoft.com/office/powerpoint/2010/main" val="12277181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673129-2BCF-40AA-9B39-2D0D7FC8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물리 ERD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43A14-3301-4B22-89C2-9DEC2B6E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C3E5F-27FA-4DB3-97EF-82410233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2571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7F7C6-5048-495E-9B1D-B52EEC4E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A623B-0F22-40BE-9220-3A4F2783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ADFE9-AA15-4F75-ABDC-22755DD3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2266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UQ email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password_hash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name / role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consent_*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BC9A6-062D-4DFF-AF2D-9523D9E5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2571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739E3-42A8-4935-8E94-BF885AE4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1BC86-E20E-4077-B18A-4A2A178B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049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E0174-EF4A-4F41-A017-56AFA1D8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81200"/>
            <a:ext cx="2266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FK user_id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UQ stored_filename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status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uploaded_at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B5055-41EF-4729-82FC-EE75612C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2571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AFF9A-217C-4B91-B4D8-6F4865B4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EA3F1-89E5-401A-80E9-E353AB81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049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analysis_results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997CB-6FFA-4B86-BE17-490D5C97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81200"/>
            <a:ext cx="2266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FK contract_id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result_json LONGTEXT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created_at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551BC-E162-4603-B022-5F00138B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4B2E3-832A-4631-B266-21F9252B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A7DBE-4D5A-4A35-8B66-EE783759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5049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legal_consultation_history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E00187-9943-46EE-843D-DBBA25DD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81200"/>
            <a:ext cx="2171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FK user_id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question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response_json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0D29A5-55A6-4B86-8B93-B25CE49F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2571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EBD2A-6544-4A5C-9EF5-A201D306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9A6E57-2AEB-4C9A-AF5E-C6A1038C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social_identities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F4E9FD-0C57-4CC7-98C3-415F83F7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2266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FK user_id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UQ provider+provider_user_id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50D78C-C138-46A9-85A7-494DBAB0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2952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143C14-AB31-4DC6-A819-754068F4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B68FC2-9872-40F4-B261-2D02713D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719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password_reset_tokens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C27300-78DD-4948-A82A-765A6359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48200"/>
            <a:ext cx="2647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FK user_id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UQ token_hash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expires_at / used_at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7EA709-90EB-4331-AED2-B881871E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607CA7-9583-4F37-A201-8EBEDD5F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37F2BC-8F0A-4B2F-8F7B-ECD74346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719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oauth_login_tickets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A64DFC-B271-4940-B5C5-4D223798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48200"/>
            <a:ext cx="2838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FK user_id (nullable)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UQ token_hash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provider / flags</a:t>
            </a:r>
          </a:p>
        </p:txBody>
      </p:sp>
    </p:spTree>
    <p:extLst>
      <p:ext uri="{BB962C8B-B14F-4D97-AF65-F5344CB8AC3E}">
        <p14:creationId xmlns:p14="http://schemas.microsoft.com/office/powerpoint/2010/main" val="6814552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05F67-018E-4135-A4C0-B1E1C73E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인증·계약 처리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830C5-B396-4FAA-AD74-2602CD08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F46D5-0835-4EAC-8FEE-E23E0A72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인증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77ADD-A2AC-486B-A591-26B26B46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이메일 가입·로그인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337BD-5A78-4BC5-803B-AD420917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193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Google/Naver OAuth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681DF-B42C-41A0-B334-2ECCDE2F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908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JWT 필터·BCrypt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3907B-BA49-4015-947B-320F5AE5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계정 복구·필수 동의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F5539-4E72-42E8-B76E-F6DCCE66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계약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BC6F8-44C8-4F19-8207-0DA15087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PDF 시그니처·크기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93E63-C475-4D02-80B6-E21C1768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UUID 저장 파일명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9F2A8-17F2-4FCA-8C92-A8E8B414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소유자 기반 조회 권한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CE5A6-A9B7-4D9F-948D-12DE3293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비동기 분석·취소·재시도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CB39A-78E8-4088-8BB3-15B3D886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10458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C12F3D-B3E0-4916-AD5B-4C46F9CD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995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브라우저는 FastAPI를 직접 호출하지 않고 Spring Boot를 단일 진입점으로 사용</a:t>
            </a:r>
          </a:p>
        </p:txBody>
      </p:sp>
    </p:spTree>
    <p:extLst>
      <p:ext uri="{BB962C8B-B14F-4D97-AF65-F5344CB8AC3E}">
        <p14:creationId xmlns:p14="http://schemas.microsoft.com/office/powerpoint/2010/main" val="207430718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28748C-2D78-40FA-8D2F-CCC72C50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계약서 분석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06E6D-3DC1-42B4-BF34-88766B74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857250" y="342900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CBD5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51BAA-E9DD-45BF-8EC2-D22CBA69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4E2DC-5DAC-4593-83C3-0B4CCF98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00E1E-9342-44DD-BBEF-A573B9F8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4000500"/>
            <a:ext cx="1476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PDF 텍스트 추출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ECB7E-175A-43BC-AD83-5B653C5B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48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1AC78-691F-4A39-A239-442EBA4D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190875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FEF67-BE96-4F83-A345-FB674FF9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00500"/>
            <a:ext cx="1476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조항 분리·규칙 탐지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95B30-F3D3-429D-81DF-E7553E05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48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918A8-EBAE-4550-987D-829F821A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190875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657A5-D3F9-491A-AC62-8213277C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000500"/>
            <a:ext cx="1476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ChromaDB 법령 검색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E7A03-AF82-49C1-9A60-BB9D2518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48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CE8F8-4FA4-4A43-8637-9CC0B890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90875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E4B75-7AFB-40CE-8E74-F3ABDBF8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00500"/>
            <a:ext cx="1476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LLM 구조화 분석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F6639-0CBA-407E-9704-7CEDADDA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048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10A41E-8FB5-4ED3-B376-418D9C6B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190875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67459-6DBD-4C0C-BD2D-F045ABC8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000500"/>
            <a:ext cx="1476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근거 상호 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8E38E-591E-4C34-8F74-4454F134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48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4634B-83BC-4B4F-9AB8-166C6DA5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190875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4DBCEC-902F-4541-8400-813E1C26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00500"/>
            <a:ext cx="1476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최종 등급·리포트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7645BE-0950-4D74-8E1D-EE71ECCC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91125"/>
            <a:ext cx="933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AF829B-E30A-4ED7-BE34-AA0C98AD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LLM 실패 시에도 규칙 기반 결과로 폴백하여 서비스 중단을 방지</a:t>
            </a:r>
          </a:p>
        </p:txBody>
      </p:sp>
    </p:spTree>
    <p:extLst>
      <p:ext uri="{BB962C8B-B14F-4D97-AF65-F5344CB8AC3E}">
        <p14:creationId xmlns:p14="http://schemas.microsoft.com/office/powerpoint/2010/main" val="9592549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EEE2AF-8672-449F-A8D2-14E36AF8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LangGraph 워크플로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3DA37-D97F-4FDB-AB9A-41C6D548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1762125" y="34766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BD5E1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4191000" y="34766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BD5E1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6381750" y="2524125"/>
            <a:ext cx="6667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8858250" y="2524125"/>
            <a:ext cx="8572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6381750" y="3476625"/>
            <a:ext cx="6667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7706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8858250" y="3476625"/>
            <a:ext cx="8572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7706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10572750" y="390525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BD5E1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B6398-3109-4ADF-84EF-8AFF058B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1190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E08B4-39CE-40F7-A2B1-30B9CF03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EDA8D-C85B-407D-83C3-A45A9CE7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0CB8A-2F69-43CD-878A-28E707F8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051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F8E0B-715B-42C5-A091-5237D0E2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A1175-5D92-44E4-AC84-8BAF1986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051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retrieve_laws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A54CC-E9BE-4F3F-B71A-5A25B14D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03413-41B1-4C0A-8FDB-CCDDF98C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526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llm_analyze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1490F-331C-4F6B-881C-5A951134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9575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4EA47D-1216-4AC9-8FD9-CB43E84A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529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06B3E3-4916-4BDE-B482-BF67500C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4800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6D01D-ECB9-4514-B33E-A603C212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051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finalize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FF9DBB-1881-4DE8-8666-36121E59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62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667DF8-F6F1-4A39-8A0C-A02BF48B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1967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04B663-033F-4C77-A2F4-92080C54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481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규칙 기반 1차 분석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582605-CFD3-4502-96B9-2DAD90E5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481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법령 검색·중복 정리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8B8332-D464-419F-8F94-E84C844F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668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근거 존재 + LLM 활성화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757B37-4C94-42DC-BD9A-9B5CB5AE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근거 없음·LLM 비활성·오류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3A2BF9-FC4A-4D81-97F9-792424B4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066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06BF79-C5C7-4C07-85CA-53209B7B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34050"/>
            <a:ext cx="1023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워크플로 에이전트: 자유로운 도구 선택보다 재현 가능한 순서·조건 분기·안전한 폴백에 초점</a:t>
            </a:r>
          </a:p>
        </p:txBody>
      </p:sp>
    </p:spTree>
    <p:extLst>
      <p:ext uri="{BB962C8B-B14F-4D97-AF65-F5344CB8AC3E}">
        <p14:creationId xmlns:p14="http://schemas.microsoft.com/office/powerpoint/2010/main" val="164460959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E1D629-203A-4E2C-AEDC-052B0150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임베딩 모델 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6B55F-7BE4-4173-80EE-A642CE43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2D7A6-7E85-4336-85A8-8C0CBA54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선정 배경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13751-526D-4E87-A85F-9F60D6F1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9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한국어 문장 유사도에 최적화된 Sentence Transformer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233E0-F001-410B-82A1-0913C24E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90875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86D0D-9345-4BB1-999D-2DB5E4FE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한국어 의미 검색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AB50B-97D6-4547-A84F-767377E9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질문과 법령 표현이 달라도</a:t>
            </a:r>
          </a:p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의미가 가까운 조문 탐색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3750A-6E66-496A-AFA6-7BB3C5EF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90875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F0446-7887-4A59-BB00-BFDB9D1A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290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로컬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ECD4D-9856-4772-98AA-AA8EA39B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052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외부 임베딩 API 비용 없이</a:t>
            </a:r>
          </a:p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개인정보 노출 범위 축소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8CE86-1319-4ED8-8F04-5ED0B5CD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90875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2642A-CA95-4CE2-B053-6ECFD42F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290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운영 균형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51521-9E52-43DA-B5AF-51DCE4DD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052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768차원·CPU 실행으로</a:t>
            </a:r>
          </a:p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정확도와 자원 사용 절충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09BBB1-F90A-4DA2-B1C2-12D51273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역할 구분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1EE71-F0E5-4B50-97BC-4150C9EB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Ko-SRoBERTa는 답변을 생성하지 않는다.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문장을 벡터로 바꾸고 관련 법령을 찾는다.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BC0B7-EAB2-49DC-8662-8D3AA9FB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한계: 법률 전용 모델 비교 실험은 향후 과제로 남겼다.</a:t>
            </a:r>
          </a:p>
        </p:txBody>
      </p:sp>
    </p:spTree>
    <p:extLst>
      <p:ext uri="{BB962C8B-B14F-4D97-AF65-F5344CB8AC3E}">
        <p14:creationId xmlns:p14="http://schemas.microsoft.com/office/powerpoint/2010/main" val="5461968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8E973C-961F-4CB2-9FA2-E29D1A1D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노동법 상담봇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92147-2E15-4CAE-B6DB-A47F07CD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cxnSp>
        <p:nvCxnSpPr>
          <p:cNvPr id="25" name=""/>
          <p:cNvCxnSpPr/>
          <p:nvPr/>
        </p:nvCxnSpPr>
        <p:spPr>
          <a:xfrm xmlns:a="http://schemas.openxmlformats.org/drawingml/2006/main">
            <a:off x="1733550" y="30003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BD5E1"/>
            </a:solidFill>
            <a:prstDash val="solid"/>
          </a:ln>
        </p:spPr>
      </p:cxnSp>
      <p:cxnSp>
        <p:nvCxnSpPr>
          <p:cNvPr id="26" name=""/>
          <p:cNvCxnSpPr/>
          <p:nvPr/>
        </p:nvCxnSpPr>
        <p:spPr>
          <a:xfrm xmlns:a="http://schemas.openxmlformats.org/drawingml/2006/main">
            <a:off x="4019550" y="30003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BD5E1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6305550" y="30003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BD5E1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8591550" y="30003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BD5E1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FB2BF-2FE1-4C3C-A837-E498C75E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7B47A-5D9F-4791-B56D-1298625D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질문·대화 문맥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CADD2-FC49-47FA-AD7F-528A41B9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D4FD5-D311-4043-B034-42A6E359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146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범위·후속 질문 판정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CDC81-548A-4F3F-9D7E-1E7448F5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27804-83AD-41BA-A5B2-2BDEA8D5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146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법령 RAG 검색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5E651-1E4C-400B-A8CC-47134F32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A003F-3DFB-43FD-8F08-A94F22BD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146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관련도·출처 필터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3835A-079F-4D1C-813C-A116DAC9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5CE6D-8E35-4A06-992D-AC73D977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146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결론 우선 답변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2C3C3E-67D8-4070-BBDB-BD40D61E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86250"/>
            <a:ext cx="895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9895F7-FF07-449A-B3BF-3CDD2171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524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안전장치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7FBC26-37F4-413A-ADDE-EB85289A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47675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관련 근거 부족 → LLM 호출 중단  |  인용 불일치 → 답변 폐기  |  Ollama 실패 → 검증된 대체 답변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BAA631-F191-4F98-9E76-8FFD4670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상담봇은 LangGraph 미사용: RAG + LLM + 후처리 검증의 직접 파이프라인</a:t>
            </a:r>
          </a:p>
        </p:txBody>
      </p:sp>
    </p:spTree>
    <p:extLst>
      <p:ext uri="{BB962C8B-B14F-4D97-AF65-F5344CB8AC3E}">
        <p14:creationId xmlns:p14="http://schemas.microsoft.com/office/powerpoint/2010/main" val="91743459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FDEE43-5F28-4E99-943A-71091F6B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법령 데이터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B1F34-D9A9-43EC-98BF-1956AA07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cxnSp>
        <p:nvCxnSpPr>
          <p:cNvPr id="26" name=""/>
          <p:cNvCxnSpPr/>
          <p:nvPr/>
        </p:nvCxnSpPr>
        <p:spPr>
          <a:xfrm xmlns:a="http://schemas.openxmlformats.org/drawingml/2006/main">
            <a:off x="1428750" y="3095625"/>
            <a:ext cx="8953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CBD5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FEDC3-68CE-47B9-A466-64949DF3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9526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A647F-76DD-4462-9056-CD0EDB90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7650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4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국가법령정보센터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Open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B8EE9-C73D-4435-BFA4-2812CC43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861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45개 노동관계 법령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8F81F-E904-4CE8-A05F-B511351D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38375"/>
            <a:ext cx="19526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1BE1E-398C-452D-A506-FE0393F4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7650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조·항·호·목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단위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E8AEB-C1BE-4E04-827B-546BD648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861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2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시행일·출처 메타데이터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A2E42-E825-44CA-A21A-9AED9B37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38375"/>
            <a:ext cx="19526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C2F69-044C-40A4-89DE-D52C34BC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47650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Ko-SRoBERTa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임베딩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B40000-9705-41D3-8899-A6C2AFB7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2861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정규화된 문장 벡터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499CF-2E31-4AA7-837D-E62B469E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38375"/>
            <a:ext cx="19526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8A74E-03E3-4004-A71F-E7704CCA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47650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ChromaDB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12,377건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60AAF-7F35-471A-AC7C-8D080646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2861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질문·조항 의미 검색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D2932A-F351-4D5C-87AE-97F5976A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38375"/>
            <a:ext cx="19526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C769F5-17CA-44B2-AB55-B835BEB1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47650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회귀 질문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필수 출처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1497B-0B37-46BF-BC2E-4C2359BB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2861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검색 품질 재확인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EBB082-C9FE-4CE0-AF8C-F9EEA701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DF205B-C9ED-4710-A5CA-B2182267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개정 반영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8AF0BC-95E7-4229-AA25-4421C920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33950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재수집 → corpus SHA-256 비교 → 변경 시 ChromaDB 재적재</a:t>
            </a:r>
          </a:p>
        </p:txBody>
      </p:sp>
    </p:spTree>
    <p:extLst>
      <p:ext uri="{BB962C8B-B14F-4D97-AF65-F5344CB8AC3E}">
        <p14:creationId xmlns:p14="http://schemas.microsoft.com/office/powerpoint/2010/main" val="174574191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865ED-210B-40FF-B61D-D82EDF1E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 결과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F36B8-103F-4415-8376-ADA32AC7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1B32D-4D3D-433F-B3F1-B1469EBE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3429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3065B-960C-4972-90A5-B045B7D0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요약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EE6B2-97CD-4F33-9C01-CD182119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위험 점수·등급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계약서 핵심 요약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E5CE4-1113-4381-8590-78A3D18B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14500"/>
            <a:ext cx="3429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EDF45-737B-4E81-885F-FD67E71D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47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근거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FF16B-78BF-4E8A-AE06-4930E12C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987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원문 위치 하이라이트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관련 법령 출처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E8188-BF53-461D-AF3C-C71BBD19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429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49362-9728-4BE0-A9BB-C7248030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47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행동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0D406-5EF4-4B69-B8FA-01B5019F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987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체크리스트·질의응답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대체 문구·PDF 리포트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678CF-88A5-4E09-9F21-68C07553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 Hook이 분석 폴링·취소·목록 갱신을 하나의 작업 흐름으로 관리</a:t>
            </a:r>
          </a:p>
        </p:txBody>
      </p:sp>
    </p:spTree>
    <p:extLst>
      <p:ext uri="{BB962C8B-B14F-4D97-AF65-F5344CB8AC3E}">
        <p14:creationId xmlns:p14="http://schemas.microsoft.com/office/powerpoint/2010/main" val="164383509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9BD84-D84A-451A-AF16-2498CDD0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단위·회귀 테스트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BCD7A-9E55-4233-B617-5D9FDAD6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1AB68-A7E9-4D3C-993E-00F50ED4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Backend / JUnit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95300" y="20955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EDE7B-6534-4D7B-9053-3A17394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3238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AccountService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AccountRecoveryService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OAuthLoginService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ContractService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LegalConsultationService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143E3-C2A3-4243-BCD1-0DE22A5A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716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AI / Pytest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305300" y="20955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E9C87-0641-41B1-A61A-0EDE48BC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3238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analyzer·agent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risk grades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semantic dataset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law source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PDF/document 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CAFB0-AF0D-40F7-BE58-1B78BEB9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716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검증 관점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8115300" y="20955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4B9C0-89D6-4040-89F7-2E745B96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3238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정상·위험 분류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권한·토큰 만료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상태 전이·취소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출처 일치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폴백 동작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00158-0BE2-4491-B8AB-9A97F8D4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1038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20C21-D8CA-4244-91EB-0C478F8B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995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65개 AI 테스트 · SAFE/LOW/MEDIUM/HIGH 등급 · 의미 부정문 · 상담 필수 출처를 회귀 데이터로 고정</a:t>
            </a:r>
          </a:p>
        </p:txBody>
      </p:sp>
    </p:spTree>
    <p:extLst>
      <p:ext uri="{BB962C8B-B14F-4D97-AF65-F5344CB8AC3E}">
        <p14:creationId xmlns:p14="http://schemas.microsoft.com/office/powerpoint/2010/main" val="134509048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68585C-C4D7-4045-9EE9-B8DDB900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통합 테스트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C994D-5962-4701-842F-A8FFE631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E3101-C78D-4411-A5F0-AD1FC5DF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영역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622C7-39C2-49FC-8541-22BF7F6C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4763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시나리오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5CD60-7ACC-4233-BC36-2B24A968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76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핵심 검증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95300" y="1838325"/>
            <a:ext cx="10429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E9DAB-4E4B-4650-925C-45D2AA1D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인증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77818-7510-4946-8A27-5ED34890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5262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가입 → 로그인 → JWT 인증 → 내 정보 조회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1D223-72FB-499E-B6AA-3C360CBA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권한과 세션 흐름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95300" y="2743200"/>
            <a:ext cx="10429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B5523-5323-4A79-96DC-986862A6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계약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274772-1480-4865-9EE4-418254C4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575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PDF 업로드 → 분석 시작 → 상태 폴링 → 결과 조회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F6EB6-919A-43D5-B49A-587A8455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React–Spring–FastAPI 연동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95300" y="3648075"/>
            <a:ext cx="10429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0D456-D5AD-4ED0-A553-394C652B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취소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022C9-86E5-4BA4-9DB1-18BABB1D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6237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처리 중 취소 → 결과 저장 차단 → UPLOADED 복귀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5AF40-6B7F-43A1-AF85-0BE7311C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비동기 상태 일관성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95300" y="4552950"/>
            <a:ext cx="10429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B389F2-26B8-480F-9AE6-474821E2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상담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169171-3C9A-4DE8-9EA8-0982E673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6725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질문 → RAG 검색 → 답변·출처 → 이력 저장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B1481F-8EFC-44AC-B0F0-50FD2D97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672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주제·근거 일치</a:t>
            </a:r>
          </a:p>
        </p:txBody>
      </p:sp>
    </p:spTree>
    <p:extLst>
      <p:ext uri="{BB962C8B-B14F-4D97-AF65-F5344CB8AC3E}">
        <p14:creationId xmlns:p14="http://schemas.microsoft.com/office/powerpoint/2010/main" val="12773102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2C581-746A-4C11-A0F1-32A40187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트러블슈팅: 분석 취소 오류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8A0E4-4706-4A6D-B68D-19C42F73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CA813-3D0E-4B53-A9FB-F63A3A5B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6212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C7D25-201E-4BDE-96E4-08C84B0E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증상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CC8FF-8306-438F-958E-6A8111E5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05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취소 요청 HTTP 500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화면은 계속 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E1462-A4F9-4DFC-9F52-708BE4A2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6212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92622-DFE4-4A7B-8E79-774B385C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원인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F8A02-AB54-4FA7-8AF9-5D22470E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05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CANCELLED enum 추가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기존 H2 CHECK 제약 미갱신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트랜잭션 롤백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76BE1-9E06-41FF-9CB7-9B1B67E8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7329F-D3FE-499D-8B12-7D067763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해결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F7022-23DD-47AF-BE85-65951A3B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05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Future interrupt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결과 저장 차단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상태를 UPLOADED로 복구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0659E-EEBA-44AC-9CB6-C9C27162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배운 점: enum 변경은 애플리케이션 코드뿐 아니라 기존 스키마 마이그레이션까지 검증해야 한다</a:t>
            </a:r>
          </a:p>
        </p:txBody>
      </p:sp>
    </p:spTree>
    <p:extLst>
      <p:ext uri="{BB962C8B-B14F-4D97-AF65-F5344CB8AC3E}">
        <p14:creationId xmlns:p14="http://schemas.microsoft.com/office/powerpoint/2010/main" val="79469578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4AF73-4510-4374-A4BC-FD5D4E9E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트러블슈팅: 출력·OAuth·RAG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70D46-CEEB-40CA-A931-17B51741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3797C-DE65-4DD0-8EAD-48064E28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PDF 표 넘침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A870F-75AB-44D1-ABC9-6A099418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3429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CADBC-ACE7-42C4-930F-DBDF5E73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문자열을 Paragraph로 변환하고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열 폭·간격·섹션 구조를 조정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763CC-DD31-41D7-97B9-FB6D35CD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OAuth Lazy 로딩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100B1E-14BF-4066-95D8-0B9A5508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38375"/>
            <a:ext cx="3429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E20DF-B39A-49AE-99B9-48293CB2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19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JPA Entity 대신 트랜잭션 내부에서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불변 값 객체로 변환해 반환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F7724-F2EE-49E1-B258-AB65ADA8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6687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상담 주제 오염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36787-D510-4F82-9CDA-571CD454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38375"/>
            <a:ext cx="3429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30948-7B31-41AB-9D04-2313C5DF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19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명확한 신규 질문은 과거 문맥을 배제하고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허용 법령 ID·출처 일치를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A73B6-BEE3-44BA-9629-09D14BBB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0062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C7F29-E45A-49E0-914A-BBDED8F6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공통 원칙: 문제를 UI 증상이 아니라 데이터·트랜잭션·출력 경계에서 재현하고 회귀 테스트로 고정</a:t>
            </a:r>
          </a:p>
        </p:txBody>
      </p:sp>
    </p:spTree>
    <p:extLst>
      <p:ext uri="{BB962C8B-B14F-4D97-AF65-F5344CB8AC3E}">
        <p14:creationId xmlns:p14="http://schemas.microsoft.com/office/powerpoint/2010/main" val="133204079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1FF10-2F0C-4086-9909-62BF0E8E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프로젝트 회고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0DEA9-8113-46B4-8A13-87467BFB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1EE14-3DFB-4EC6-BCE9-1AE1E0E3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기술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95300" y="21907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FB1AA-57EA-4F31-9217-74B00CFE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React–Spring–FastAPI를 연결하며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계층별 책임과 API 계약을 체감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60746-E962-4C8C-A6EC-30C60A0F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품질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305300" y="21907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3DE3A-B5E1-4571-916E-99B5B49F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비동기 상태·DB 제약·출처 일치처럼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경계 조건이 사용자 신뢰를 좌우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2D7C8-07F8-413D-BE40-5B594C25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66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성장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8115300" y="21907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2813E-2C81-47FF-A244-8A450953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문제 재현 → 원인 분리 → 테스트 고정의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개발 루틴을 프로젝트 전반에 적용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E485C-1804-4680-83C4-B26B5E6B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법률 AI는 ‘정답을 말하는 기능’보다</a:t>
            </a:r>
          </a:p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왜 그렇게 판단했는지 추적 가능한 구조가 핵심이었다.</a:t>
            </a:r>
          </a:p>
        </p:txBody>
      </p:sp>
    </p:spTree>
    <p:extLst>
      <p:ext uri="{BB962C8B-B14F-4D97-AF65-F5344CB8AC3E}">
        <p14:creationId xmlns:p14="http://schemas.microsoft.com/office/powerpoint/2010/main" val="1062919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56F09-8DED-493B-A3CD-F492DB72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LAWZIC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1D911-7934-4123-897A-8DA1A371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계약서 검토를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근거 있는 다음 행동으로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EC085-890E-433C-B549-DB10E801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규칙 기반 탐지 · 법령 RAG · LLM 검증 · 추적 가능한 리포트</a:t>
            </a:r>
          </a:p>
        </p:txBody>
      </p:sp>
      <p:cxnSp>
        <p:nvCxnSpPr>
          <p:cNvPr id="9" name=""/>
          <p:cNvCxnSpPr/>
          <p:nvPr/>
        </p:nvCxnSpPr>
        <p:spPr>
          <a:xfrm xmlns:a="http://schemas.openxmlformats.org/drawingml/2006/main">
            <a:off x="495300" y="5191125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563EB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8351B-7F8E-445B-91F7-CD4AD97A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PROJECT REPORT</a:t>
            </a:r>
          </a:p>
        </p:txBody>
      </p:sp>
    </p:spTree>
    <p:extLst>
      <p:ext uri="{BB962C8B-B14F-4D97-AF65-F5344CB8AC3E}">
        <p14:creationId xmlns:p14="http://schemas.microsoft.com/office/powerpoint/2010/main" val="56334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2026-07-30T00:09:16.5370000Z</dcterms:created>
  <dcterms:modified xsi:type="dcterms:W3CDTF">2026-07-30T00:09:16.5370000Z</dcterms:modified>
</coreProperties>
</file>