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5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 idx="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ai/app/agent.py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ai/app/legal_consultation.py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ai/app/rag/service.py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ai/app/agent.py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ai/app/legal_consultation.py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ai/app/agent.py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docs/LAW_DATA_PIPELINE.md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ai/scripts/sync_laws.py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ai/app/contract_rag.py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ai/app/semantic.py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ai/app/rag/service.py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ai/app/contract_rag.py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ai/app/rag/service.py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ai/app/question_agent.py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ai/app/agent.py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ai/app/legal_consultation.py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ai/app/schemas.py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backend/src/main/java/com/lawzic/api/analysis/AnalysisResult.java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backend/src/main/java/com/lawzic/api/analysis/ContractQuestionHistory.java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backend/src/main/java/com/lawzic/api/analysis/LegalConsultationHistory.java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frontend/src/pages/MyPage.jsx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d38b03e39c3e436c" Type="http://schemas.openxmlformats.org/officeDocument/2006/relationships/slideMaster" Target="../slideMasters/slideMaster1.xml" 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 ?><Relationships xmlns="http://schemas.openxmlformats.org/package/2006/relationships"><Relationship Id="R81f1351abba04e5e" Type="http://schemas.openxmlformats.org/officeDocument/2006/relationships/theme" Target="../theme/theme1.xml"  /><Relationship Id="Rdc6b59416a2c46f3" Type="http://schemas.openxmlformats.org/officeDocument/2006/relationships/slideLayout" Target="../slideLayouts/slideLayout1.xml" 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6b59416a2c46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62ff4b66cbfe4d42" Type="http://schemas.openxmlformats.org/officeDocument/2006/relationships/slideLayout" Target="../slideLayouts/slideLayout1.xml"  /><Relationship Id="R7d9f72e0ce484897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0b2d770640a14092" Type="http://schemas.openxmlformats.org/officeDocument/2006/relationships/slideLayout" Target="../slideLayouts/slideLayout1.xml"  /><Relationship Id="R7e85ff992385461c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2eb72fda3e9c43fd" Type="http://schemas.openxmlformats.org/officeDocument/2006/relationships/notesSlide" Target="../notesSlides/notesSlide5.xml"  /><Relationship Id="Rcc24bf5c18ed49c9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00d9ec66ca8d439f" Type="http://schemas.openxmlformats.org/officeDocument/2006/relationships/notesSlide" Target="../notesSlides/notesSlide6.xml"  /><Relationship Id="R9a8c1d70cce94389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681d50767e574e7a" Type="http://schemas.openxmlformats.org/officeDocument/2006/relationships/slideLayout" Target="../slideLayouts/slideLayout1.xml"  /><Relationship Id="Rdbdc78c3bc494284" Type="http://schemas.openxmlformats.org/officeDocument/2006/relationships/notesSlide" Target="../notesSlides/notesSlide9.xml"  /><Relationship Id="Reb2e1b4527814ea5" Type="http://schemas.openxmlformats.org/officeDocument/2006/relationships/image" Target="../media/image2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769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590550" y="4953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LAWZIC</a:t>
            </a:r>
            <a:endParaRPr sz="2100" b="1">
              <a:solidFill>
                <a:srgbClr val="4aa3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590550" y="2095500"/>
            <a:ext cx="6191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설계</a:t>
            </a:r>
            <a:endParaRPr sz="48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590550" y="3143250"/>
            <a:ext cx="904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0">
                <a:solidFill>
                  <a:srgbClr val="b8c7d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7db"/>
                </a:solidFill>
                <a:latin typeface="Arial"/>
                <a:ea typeface="Arial"/>
                <a:cs typeface="Arial"/>
              </a:rPr>
              <a:t>계약서 분석 AI · 노동법 상담 AI · RAG · LangGraph</a:t>
            </a:r>
            <a:endParaRPr sz="2025" b="0">
              <a:solidFill>
                <a:srgbClr val="b8c7db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" name=""/>
          <p:cNvCxnSpPr/>
          <p:nvPr/>
        </p:nvCxnSpPr>
        <p:spPr>
          <a:xfrm>
            <a:off x="590550" y="4857750"/>
            <a:ext cx="10382250" cy="0"/>
          </a:xfrm>
          <a:prstGeom prst="straightConnector1">
            <a:avLst/>
          </a:prstGeom>
          <a:ln w="57150">
            <a:solidFill>
              <a:srgbClr val="1769ff"/>
            </a:solidFill>
            <a:prstDash val="solid"/>
          </a:ln>
        </p:spPr>
      </p:cxnSp>
      <p:sp>
        <p:nvSpPr>
          <p:cNvPr id="6" name=""/>
          <p:cNvSpPr>
            <a:spLocks noGrp="1"/>
          </p:cNvSpPr>
          <p:nvPr/>
        </p:nvSpPr>
        <p:spPr>
          <a:xfrm>
            <a:off x="590550" y="52197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3.4 ARTIFICIAL INTELLIGENCE DESIGN</a:t>
            </a:r>
            <a:endParaRPr sz="1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>
            <a:spLocks noGrp="1"/>
          </p:cNvSpPr>
          <p:nvPr/>
        </p:nvSpPr>
        <p:spPr>
          <a:xfrm>
            <a:off x="4953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3.4 AI 설계</a:t>
            </a:r>
            <a:endParaRPr sz="975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495300" y="5524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기능 구성</a:t>
            </a:r>
            <a:endParaRPr sz="27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" name=""/>
          <p:cNvCxnSpPr/>
          <p:nvPr/>
        </p:nvCxnSpPr>
        <p:spPr>
          <a:xfrm>
            <a:off x="495300" y="1190625"/>
            <a:ext cx="11201400" cy="0"/>
          </a:xfrm>
          <a:prstGeom prst="straightConnector1">
            <a:avLst/>
          </a:prstGeom>
          <a:ln w="9525">
            <a:solidFill>
              <a:srgbClr val="d0d8e5"/>
            </a:solidFill>
            <a:prstDash val="solid"/>
          </a:ln>
        </p:spPr>
      </p:cxnSp>
      <p:sp>
        <p:nvSpPr>
          <p:cNvPr id="4" name=""/>
          <p:cNvSpPr>
            <a:spLocks noGrp="1"/>
          </p:cNvSpPr>
          <p:nvPr/>
        </p:nvSpPr>
        <p:spPr>
          <a:xfrm>
            <a:off x="11191875" y="630555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  <a:endParaRPr sz="900" b="1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495300" y="15240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계약서 분석 AI</a:t>
            </a:r>
            <a:endParaRPr sz="1800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667500" y="15240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노동법 상담 AI</a:t>
            </a:r>
            <a:endParaRPr sz="1800" b="1">
              <a:solidFill>
                <a:srgbClr val="4aa3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495300" y="2000250"/>
            <a:ext cx="47625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0d8e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6667500" y="2000250"/>
            <a:ext cx="4762500" cy="3143250"/>
          </a:xfrm>
          <a:prstGeom prst="roundRect">
            <a:avLst>
              <a:gd name="adj" fmla="val 2424"/>
            </a:avLst>
          </a:prstGeom>
          <a:solidFill>
            <a:srgbClr val="0b1f3a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762000" y="2333625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l">
              <a:defRPr sz="120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입력</a:t>
            </a:r>
            <a:endParaRPr sz="1200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1666875" y="23050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계약서 PDF</a:t>
            </a:r>
            <a:endParaRPr sz="1425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762000" y="2933700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l">
              <a:defRPr sz="120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검색</a:t>
            </a:r>
            <a:endParaRPr sz="1200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1666875" y="290512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계약서 청크 + 법령</a:t>
            </a:r>
            <a:endParaRPr sz="1425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762000" y="3533775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l">
              <a:defRPr sz="120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판정</a:t>
            </a:r>
            <a:endParaRPr sz="1200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1666875" y="35052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규칙·LLM 상호 검증</a:t>
            </a:r>
            <a:endParaRPr sz="1425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762000" y="4133850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l">
              <a:defRPr sz="120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출력</a:t>
            </a:r>
            <a:endParaRPr sz="1200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1666875" y="410527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위험도·출처·대체 문구</a:t>
            </a:r>
            <a:endParaRPr sz="1425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6953250" y="2333625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l">
              <a:defRPr sz="12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입력</a:t>
            </a:r>
            <a:endParaRPr sz="1200" b="1">
              <a:solidFill>
                <a:srgbClr val="4aa3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7858125" y="23050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노동법 질문</a:t>
            </a:r>
            <a:endParaRPr sz="14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6953250" y="2933700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l">
              <a:defRPr sz="12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검색</a:t>
            </a:r>
            <a:endParaRPr sz="1200" b="1">
              <a:solidFill>
                <a:srgbClr val="4aa3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7858125" y="290512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노동관계 법령</a:t>
            </a:r>
            <a:endParaRPr sz="14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6953250" y="3533775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l">
              <a:defRPr sz="12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판정</a:t>
            </a:r>
            <a:endParaRPr sz="1200" b="1">
              <a:solidFill>
                <a:srgbClr val="4aa3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7858125" y="35052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범위·관련도·출처 검증</a:t>
            </a:r>
            <a:endParaRPr sz="14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6953250" y="4133850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l">
              <a:defRPr sz="12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출력</a:t>
            </a:r>
            <a:endParaRPr sz="1200" b="1">
              <a:solidFill>
                <a:srgbClr val="4aa3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7858125" y="410527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결론·근거·예외</a:t>
            </a:r>
            <a:endParaRPr sz="14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495300" y="56197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공통 원칙</a:t>
            </a:r>
            <a:endParaRPr sz="1350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1952625" y="5581650"/>
            <a:ext cx="895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근거가 부족하면 단정하지 않고 생성 중단 또는 검토 필요로 처리</a:t>
            </a:r>
            <a:endParaRPr sz="15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56BFCE-F6FB-4502-927A-24D3E836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3.4.2 AI 처리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BA204-5726-4E42-B6A1-38228EFB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계약서 분석 처리 흐름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5E30C-9094-47B1-8605-3D7CAE32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19716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E930D-3F3E-4B5F-B832-F88ED37A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476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D1F95-8736-415F-8FFF-3871A5F1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PDF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CDDCD-09CF-4DDD-A340-3A011B93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텍스트 계약서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38385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0C6BB-0878-484D-8A68-D4083D1E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09750"/>
            <a:ext cx="1476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E939B-0342-489C-B91C-696E88F4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텍스트·좌표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D3953-F6CA-4F92-BABC-D21AFACC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PyMuPDF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57054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EF6C3-E9A8-4420-82E1-AAA4378F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1476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B5853-0A1C-4BED-94DC-51990F2A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716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의미 구조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0F1F6-9E4E-4972-A848-E10D314A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규칙 기준선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75723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8B3A4-94AF-46B1-A2CA-9BDDB017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476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1CA39-8473-4C5B-A1D3-6A201C42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716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법령 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98EFC-CFE0-4DF4-8DD4-9C7A96CF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관련 조문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94392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2CE2C3-ADFA-4034-8EB4-EAAD0847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1476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06B78-CF23-489A-9533-E62B7462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716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LLM 분석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B3995-291F-4EFF-8D74-DB7FB9BB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구조화 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BCD10-01DD-4AE3-8386-CDCC4836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09750"/>
            <a:ext cx="1476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319EC5-5C36-4720-B8AD-0DBE139C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716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최종 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34A7D-ADD9-423A-93CF-8D4CCCB3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860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7E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EC"/>
                </a:solidFill>
                <a:latin typeface="Arial"/>
                <a:ea typeface="Arial"/>
                <a:cs typeface="Arial"/>
              </a:rPr>
              <a:t>중복·충돌·점수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852E63-9EB3-4200-9066-B3191874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최종 결과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3EBB38-18D2-4459-A338-0E52F77C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576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종합 위험도와 SAFE·LOW·MEDIUM·HIGH 등급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E68B91-86C6-4249-9F4A-FCFD51CD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체크리스트와 계약서 페이지 근거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462CF8-7A04-428A-9D0F-4DEA69DD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1487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위험 원문·판단 이유·수정 권고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0BFF84-F5F0-432A-AD32-740FFC81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안전한 대체 문구와 PDF 하이라이트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B102E3-C2F2-4928-A9E1-7D31313B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검토 필요 별도 건수·유사 위험 병합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72D921-288F-4A8C-B6E7-F3F9C6F6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검증된 조항을 기준으로 점수 재계산</a:t>
            </a:r>
          </a:p>
        </p:txBody>
      </p:sp>
    </p:spTree>
    <p:extLst>
      <p:ext uri="{BB962C8B-B14F-4D97-AF65-F5344CB8AC3E}">
        <p14:creationId xmlns:p14="http://schemas.microsoft.com/office/powerpoint/2010/main" val="2111577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AF9CCC-E386-44D7-BAFD-C2F39CE9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3.4.2 AI 처리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8EFDA-45D7-4171-B1F1-1F4602B7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노동법 상담 처리 흐름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6E98F-22F7-4C58-9846-1652C264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19716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9E734-EC41-45C0-9581-CA41C843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476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CEBAF-10D4-49AE-94CA-FCF3CEB7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질문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EFD13-F948-472F-B2EA-6B647176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현재 질문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38385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E4CF6-F95C-4B79-80FA-DAD5C5AF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09750"/>
            <a:ext cx="1476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507CA-66ED-40B6-B23A-339488D0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쟁점 분류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9D843-2CF7-4520-AB25-5CE1C90F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임금·해고 등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57054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30C2E-8CB6-4237-A6D5-8038954D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1476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3B7A7-BFC9-42FA-B174-6D0E773F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716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법령 검색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231B1-8C88-49BC-8C2E-DFB7C588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Ko-SRoBERTa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75723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3D662-1612-4B7C-AC71-DBFF95B3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476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64413-784A-4B90-B272-E276A1FA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716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근거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5CAFA-A02B-49EA-A777-CE7164C4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관련도 기준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9439275" y="2238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24A90A-056A-4B7B-92C5-97AF6CD6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1476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F6E51-061C-47AB-8B8C-A7495A44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716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답변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EE7A74-0A61-409E-A662-9875E2E6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결론 우선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66DA1C-42AA-4925-A134-83062741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09750"/>
            <a:ext cx="1476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BBEE2-9401-4E39-AE45-5AF09ACD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716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출처 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2CEEC-C626-4705-991C-855463BD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86000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7E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EC"/>
                </a:solidFill>
                <a:latin typeface="Arial"/>
                <a:ea typeface="Arial"/>
                <a:cs typeface="Arial"/>
              </a:rPr>
              <a:t>사용 조문만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E4EB5-2B91-4E58-AF02-1BCE6CFE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10668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52C710-AC50-4095-BE49-26531CDB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조건 분기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CE13BC-6AB3-41B5-8255-63692594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노동법 범위 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8FFC9C-8B29-46EA-9946-894722CE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95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→ 범위 안내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A9C5DB-798C-4951-B7D3-499855F9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관련 근거 부족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59097C-211E-4AC4-92F8-D7FC0A54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9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→ LLM 호출 중단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45DF8-D70B-4ADF-9E10-A1C80158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관련 근거 충분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F0EF28-2A14-496C-B7A9-61FBC0BB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6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36A"/>
                </a:solidFill>
                <a:latin typeface="Arial"/>
                <a:ea typeface="Arial"/>
                <a:cs typeface="Arial"/>
              </a:rPr>
              <a:t>→ 답변 생성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4E602E-4C3B-4BF4-8F9D-08771DC5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후속 질문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884239-040C-4D36-B8CE-4DFA8BA4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910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→ 필요한 이전 대화만 결합</a:t>
            </a:r>
          </a:p>
        </p:txBody>
      </p:sp>
    </p:spTree>
    <p:extLst>
      <p:ext uri="{BB962C8B-B14F-4D97-AF65-F5344CB8AC3E}">
        <p14:creationId xmlns:p14="http://schemas.microsoft.com/office/powerpoint/2010/main" val="855206937"/>
      </p:ext>
    </p:extLst>
  </p:cSld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>
            <a:spLocks noGrp="1"/>
          </p:cNvSpPr>
          <p:nvPr/>
        </p:nvSpPr>
        <p:spPr>
          <a:xfrm>
            <a:off x="4953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3.4.2 AI 처리 파이프라인</a:t>
            </a:r>
            <a:endParaRPr sz="975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495300" y="5524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LangGraph 워크플로 코드</a:t>
            </a:r>
            <a:endParaRPr sz="27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" name=""/>
          <p:cNvCxnSpPr/>
          <p:nvPr/>
        </p:nvCxnSpPr>
        <p:spPr>
          <a:xfrm>
            <a:off x="495300" y="1190625"/>
            <a:ext cx="11201400" cy="0"/>
          </a:xfrm>
          <a:prstGeom prst="straightConnector1">
            <a:avLst/>
          </a:prstGeom>
          <a:ln w="9525">
            <a:solidFill>
              <a:srgbClr val="d0d8e5"/>
            </a:solidFill>
            <a:prstDash val="solid"/>
          </a:ln>
        </p:spPr>
      </p:cxnSp>
      <p:sp>
        <p:nvSpPr>
          <p:cNvPr id="4" name=""/>
          <p:cNvSpPr>
            <a:spLocks noGrp="1"/>
          </p:cNvSpPr>
          <p:nvPr/>
        </p:nvSpPr>
        <p:spPr>
          <a:xfrm>
            <a:off x="11191875" y="630555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  <a:endParaRPr sz="900" b="1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5300" y="1750219"/>
            <a:ext cx="7096125" cy="3548063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/>
        </p:nvSpPr>
        <p:spPr>
          <a:xfrm>
            <a:off x="8001000" y="15716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159"/>
          </a:bodyPr>
          <a:lstStyle/>
          <a:p>
            <a:pPr algn="l">
              <a:defRPr sz="17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코드 해석</a:t>
            </a:r>
            <a:endParaRPr sz="1725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8001000" y="214312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StateGraph에 처리 노드 등록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8001000" y="261937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법령 검색 후 조건부 분기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8001000" y="309562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LLM 사용 불가 시 finalize 폴백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8001000" y="357187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finalize에서 결과 검증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8001000" y="4429125"/>
            <a:ext cx="3048000" cy="85725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8239125" y="46291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defRPr sz="120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핵심</a:t>
            </a:r>
            <a:endParaRPr sz="1200" b="1">
              <a:solidFill>
                <a:srgbClr val="4aa3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8905875" y="4572000"/>
            <a:ext cx="190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08"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모델 호출보다 처리 순서와</a:t>
            </a:r>
            <a:endParaRPr sz="13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실패 경로를 코드로 통제</a:t>
            </a:r>
            <a:endParaRPr sz="13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>
            <a:spLocks noGrp="1"/>
          </p:cNvSpPr>
          <p:nvPr/>
        </p:nvSpPr>
        <p:spPr>
          <a:xfrm>
            <a:off x="4953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3.4.3 RAG 검색 구조</a:t>
            </a:r>
            <a:endParaRPr sz="975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495300" y="5524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데이터 수집과 문서 분할</a:t>
            </a:r>
            <a:endParaRPr sz="27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4" name=""/>
          <p:cNvCxnSpPr/>
          <p:nvPr/>
        </p:nvCxnSpPr>
        <p:spPr>
          <a:xfrm>
            <a:off x="495300" y="1190625"/>
            <a:ext cx="11201400" cy="0"/>
          </a:xfrm>
          <a:prstGeom prst="straightConnector1">
            <a:avLst/>
          </a:prstGeom>
          <a:ln w="9525">
            <a:solidFill>
              <a:srgbClr val="d0d8e5"/>
            </a:solidFill>
            <a:prstDash val="solid"/>
          </a:ln>
        </p:spPr>
      </p:cxnSp>
      <p:sp>
        <p:nvSpPr>
          <p:cNvPr id="4" name=""/>
          <p:cNvSpPr>
            <a:spLocks noGrp="1"/>
          </p:cNvSpPr>
          <p:nvPr/>
        </p:nvSpPr>
        <p:spPr>
          <a:xfrm>
            <a:off x="11191875" y="630555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  <a:endParaRPr sz="900" b="1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6" name=""/>
          <p:cNvCxnSpPr/>
          <p:nvPr/>
        </p:nvCxnSpPr>
        <p:spPr>
          <a:xfrm>
            <a:off x="2114550" y="2238375"/>
            <a:ext cx="400050" cy="0"/>
          </a:xfrm>
          <a:prstGeom prst="straightConnector1">
            <a:avLst/>
          </a:prstGeom>
          <a:ln w="28575">
            <a:solidFill>
              <a:srgbClr val="1769ff"/>
            </a:solidFill>
            <a:prstDash val="solid"/>
          </a:ln>
        </p:spPr>
      </p:cxnSp>
      <p:sp>
        <p:nvSpPr>
          <p:cNvPr id="6" name=""/>
          <p:cNvSpPr>
            <a:spLocks noGrp="1"/>
          </p:cNvSpPr>
          <p:nvPr/>
        </p:nvSpPr>
        <p:spPr>
          <a:xfrm>
            <a:off x="381000" y="1833562"/>
            <a:ext cx="1619250" cy="904875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609600" y="197167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000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국가법령정보센터</a:t>
            </a:r>
            <a:endParaRPr sz="15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0" y="228600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ctr">
              <a:defRPr sz="1050" b="0">
                <a:solidFill>
                  <a:srgbClr val="c7d7e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ec"/>
                </a:solidFill>
                <a:latin typeface="Arial"/>
                <a:ea typeface="Arial"/>
                <a:cs typeface="Arial"/>
              </a:rPr>
              <a:t>Open API</a:t>
            </a:r>
            <a:endParaRPr sz="1050" b="0">
              <a:solidFill>
                <a:srgbClr val="c7d7ec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0" name=""/>
          <p:cNvCxnSpPr/>
          <p:nvPr/>
        </p:nvCxnSpPr>
        <p:spPr>
          <a:xfrm>
            <a:off x="4286250" y="2238375"/>
            <a:ext cx="400050" cy="0"/>
          </a:xfrm>
          <a:prstGeom prst="straightConnector1">
            <a:avLst/>
          </a:prstGeom>
          <a:ln w="28575">
            <a:solidFill>
              <a:srgbClr val="1769ff"/>
            </a:solidFill>
            <a:prstDash val="solid"/>
          </a:ln>
        </p:spPr>
      </p:cxnSp>
      <p:sp>
        <p:nvSpPr>
          <p:cNvPr id="10" name=""/>
          <p:cNvSpPr>
            <a:spLocks noGrp="1"/>
          </p:cNvSpPr>
          <p:nvPr/>
        </p:nvSpPr>
        <p:spPr>
          <a:xfrm>
            <a:off x="2667000" y="1809750"/>
            <a:ext cx="161925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0d8e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2781300" y="197167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67"/>
          </a:bodyPr>
          <a:lstStyle/>
          <a:p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45개 법령</a:t>
            </a:r>
            <a:endParaRPr sz="15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2781300" y="228600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법·시행령·시행규칙</a:t>
            </a:r>
            <a:endParaRPr sz="105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4" name=""/>
          <p:cNvCxnSpPr/>
          <p:nvPr/>
        </p:nvCxnSpPr>
        <p:spPr>
          <a:xfrm>
            <a:off x="6457950" y="2238375"/>
            <a:ext cx="400050" cy="0"/>
          </a:xfrm>
          <a:prstGeom prst="straightConnector1">
            <a:avLst/>
          </a:prstGeom>
          <a:ln w="28575">
            <a:solidFill>
              <a:srgbClr val="1769ff"/>
            </a:solidFill>
            <a:prstDash val="solid"/>
          </a:ln>
        </p:spPr>
      </p:cxnSp>
      <p:sp>
        <p:nvSpPr>
          <p:cNvPr id="14" name=""/>
          <p:cNvSpPr>
            <a:spLocks noGrp="1"/>
          </p:cNvSpPr>
          <p:nvPr/>
        </p:nvSpPr>
        <p:spPr>
          <a:xfrm>
            <a:off x="4838700" y="1809750"/>
            <a:ext cx="161925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0d8e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4953000" y="197167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67"/>
          </a:bodyPr>
          <a:lstStyle/>
          <a:p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조·항·호 분리</a:t>
            </a:r>
            <a:endParaRPr sz="15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4953000" y="228600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12,377 레코드</a:t>
            </a:r>
            <a:endParaRPr sz="105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8" name=""/>
          <p:cNvCxnSpPr/>
          <p:nvPr/>
        </p:nvCxnSpPr>
        <p:spPr>
          <a:xfrm>
            <a:off x="8629650" y="2238375"/>
            <a:ext cx="400050" cy="0"/>
          </a:xfrm>
          <a:prstGeom prst="straightConnector1">
            <a:avLst/>
          </a:prstGeom>
          <a:ln w="28575">
            <a:solidFill>
              <a:srgbClr val="1769ff"/>
            </a:solidFill>
            <a:prstDash val="solid"/>
          </a:ln>
        </p:spPr>
      </p:cxnSp>
      <p:sp>
        <p:nvSpPr>
          <p:cNvPr id="18" name=""/>
          <p:cNvSpPr>
            <a:spLocks noGrp="1"/>
          </p:cNvSpPr>
          <p:nvPr/>
        </p:nvSpPr>
        <p:spPr>
          <a:xfrm>
            <a:off x="7010400" y="1809750"/>
            <a:ext cx="161925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0d8e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7124700" y="197167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67"/>
          </a:bodyPr>
          <a:lstStyle/>
          <a:p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메타데이터</a:t>
            </a:r>
            <a:endParaRPr sz="15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7124700" y="228600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시행일·출처 URL</a:t>
            </a:r>
            <a:endParaRPr sz="105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9182100" y="1809750"/>
            <a:ext cx="161925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0d8e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9296400" y="197167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67"/>
          </a:bodyPr>
          <a:lstStyle/>
          <a:p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재임베딩</a:t>
            </a:r>
            <a:endParaRPr sz="15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9296400" y="228600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corpus 변경 시</a:t>
            </a:r>
            <a:endParaRPr sz="105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495300" y="34766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952"/>
          </a:bodyPr>
          <a:lstStyle/>
          <a:p>
            <a:pPr algn="l">
              <a:defRPr sz="15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계약서 분할</a:t>
            </a:r>
            <a:endParaRPr sz="1575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495300" y="395287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PDF 페이지별 텍스트 추출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495300" y="43815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약 850자 단위·약 140자 중첩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495300" y="48101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contract_id·page·chunk 메타데이터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6477000" y="34766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952"/>
          </a:bodyPr>
          <a:lstStyle/>
          <a:p>
            <a:pPr algn="l">
              <a:defRPr sz="15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법령 분할</a:t>
            </a:r>
            <a:endParaRPr sz="1575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6477000" y="395287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조·항·호·목을 독립 검색 단위로 구성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6477000" y="43815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법령명·전체 조문 경로를 문맥에 포함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"/>
          <p:cNvSpPr>
            <a:spLocks noGrp="1"/>
          </p:cNvSpPr>
          <p:nvPr/>
        </p:nvSpPr>
        <p:spPr>
          <a:xfrm>
            <a:off x="6477000" y="48101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manifest에 corpus SHA-256 저장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2313B-DFBB-4E8E-8E0B-E7F19333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3.4.3 RAG 검색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36D0C-4BFA-4934-ACEC-7BF938C9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임베딩과 Vector DB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C3B98-61A8-4E31-9127-D1E382EE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B802A-8261-419D-996A-08EBCE95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jhgan/ko-sroberta-multitask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B9D93-84E4-413A-A2E8-C05777E2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한국어 질문·계약 문장·법령 조문을 같은 의미 공간의 벡터로 변환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719A4-652A-4D00-B41E-E21D61FC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76375"/>
            <a:ext cx="3333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542C6-AF17-41E4-9D30-DA04AC38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임베딩 처리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936AE-6F1E-4B9C-8AB6-B8441C6C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문장 벡터 → L2 정규화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cosine 거리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07E33-3BF8-4A5C-B6C7-8A73488C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4476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4ED26-315A-4C3C-80D3-371E1BA4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lawzic_labor_laws_v2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FDBAD-E84F-48DF-BA9A-E253233F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공식 법령 전역 컬렉션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40047-2E1B-44F3-ABD0-7255146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76625"/>
            <a:ext cx="4476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690AA-38C5-4D50-829E-D6E4E738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lawzic_contract_chunks_v1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6195A-BD4D-495B-99AD-4B9FEC09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5287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contract_id 범위 컬렉션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5238750" y="401955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D8E5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307A9-F208-42CD-AA04-135D78FD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두 컬렉션을 분리해 공식 법령과 사용자 계약서의 검색 범위 및 보안 경계를 유지</a:t>
            </a:r>
          </a:p>
        </p:txBody>
      </p:sp>
    </p:spTree>
    <p:extLst>
      <p:ext uri="{BB962C8B-B14F-4D97-AF65-F5344CB8AC3E}">
        <p14:creationId xmlns:p14="http://schemas.microsoft.com/office/powerpoint/2010/main" val="364382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170167-BAD5-4C6D-BCC6-4517012F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3.4.3 RAG 검색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4DD16-4909-4E84-B88A-F3C48868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RAG 검색 구조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3E62D-3554-49AB-9BF2-256C137F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2114550" y="2238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96AA5-CEFF-4E3C-AF2E-9ED5C41C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28B19-530C-49FB-B6BB-2AE45D11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A0EAC-F4A2-4F31-BF09-FA3DFEEB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7E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EC"/>
                </a:solidFill>
                <a:latin typeface="Arial"/>
                <a:ea typeface="Arial"/>
                <a:cs typeface="Arial"/>
              </a:rPr>
              <a:t>검색 쿼리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286250" y="2238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1A034-21AF-4263-BA4D-A27689C9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5DECA-68F2-42FF-AC51-779B5C0B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716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Ko-SRoBERTa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BD20E-CB1B-459A-A965-A6C1DA67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860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질의 벡터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457950" y="2238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6B19E-A92B-4ADD-A4AA-8A369873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B8981-35E1-47A4-9C21-4E5CB468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ChromaDB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F7F85-6437-4FC3-BB9D-F4186347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유사 문서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8629650" y="2238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F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0FD9B-780E-423B-B510-A02AC6D8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0975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8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EDF74-C615-4568-B1D7-CF510788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716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관련도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5B84C-CDFE-4C6C-897E-FC800BA5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근거 필터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5E2EE-A5FE-4D38-AA47-C19A40F7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1619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7010D-CAB4-4EB7-9290-9FE87A9C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716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6B835-8901-4222-8F18-C0650AB3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7E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EC"/>
                </a:solidFill>
                <a:latin typeface="Arial"/>
                <a:ea typeface="Arial"/>
                <a:cs typeface="Arial"/>
              </a:rPr>
              <a:t>컨텍스트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EC930-4F98-4D4D-B090-8AE2B762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10668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322F59-6F3C-477B-B2F9-64AEAFF9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검색 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90CF16-A7CF-4C0B-A014-D81C14DB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766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계약서 원문 페이지 + 관련 노동법 조문 + 출처 메타데이터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3E15EC-6AC0-425C-A800-A766B4A0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LLM 전달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38B9E6-811F-4C70-8A9B-2D1A1116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195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검색된 근거를 프롬프트 컨텍스트에 삽입하고, 답변에 사용한 출처만 최종 표시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55FEB2-80C3-43A5-8A5A-0BB1BE61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RAG는 LLM이 DB를 직접 탐색하는 것이 아니라 애플리케이션이 검색 결과를 프롬프트에 전달하는 구조</a:t>
            </a:r>
          </a:p>
        </p:txBody>
      </p:sp>
    </p:spTree>
    <p:extLst>
      <p:ext uri="{BB962C8B-B14F-4D97-AF65-F5344CB8AC3E}">
        <p14:creationId xmlns:p14="http://schemas.microsoft.com/office/powerpoint/2010/main" val="10103540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11E53-DB7C-4E7B-B0B1-6D64D273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3.4.3 RAG 검색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0F811-2494-458B-ABD4-A3B0992D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RAG 검색 코드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95300" y="1190625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8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83FE8-AE7D-4271-8E77-9EBC7AA5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055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e1b4527814ea5"/>
          <a:stretch xmlns:a="http://schemas.openxmlformats.org/drawingml/2006/main"/>
        </p:blipFill>
        <p:spPr>
          <a:xfrm xmlns:a="http://schemas.openxmlformats.org/drawingml/2006/main">
            <a:off x="495300" y="1702594"/>
            <a:ext cx="6905625" cy="345281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508B1-832B-4859-A001-4DAAEB97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검색 정책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DC10F-A0CB-45FF-94AF-E1F5CA26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질문과 필요한 대화 문맥화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83602-9ACA-44F2-8174-D0EB43C5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벡터 검색 top_k 후보 수집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B9A58-3FB9-4E0E-9CC9-BA458C7C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필수 법령 후보 우선 결합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F053B-5DBA-4D84-A2D5-CAF88F2C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hybrid score 기준 미달 제거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64E29-3DBD-48EE-A430-5AA21293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단어·키워드 불일치 근거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85E5E-7EC6-4F43-B01D-164D3CEE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질문마다 규칙을 추가하는 대신 검색·관련도 검증 구조로 일반화</a:t>
            </a:r>
          </a:p>
        </p:txBody>
      </p:sp>
    </p:spTree>
    <p:extLst>
      <p:ext uri="{BB962C8B-B14F-4D97-AF65-F5344CB8AC3E}">
        <p14:creationId xmlns:p14="http://schemas.microsoft.com/office/powerpoint/2010/main" val="331763572"/>
      </p:ext>
    </p:extLst>
  </p:cSld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>
            <a:spLocks noGrp="1"/>
          </p:cNvSpPr>
          <p:nvPr/>
        </p:nvSpPr>
        <p:spPr>
          <a:xfrm>
            <a:off x="4953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3.4.4 프롬프트 설계</a:t>
            </a:r>
            <a:endParaRPr sz="975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495300" y="5524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프롬프트 설계</a:t>
            </a:r>
            <a:endParaRPr sz="27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0" name=""/>
          <p:cNvCxnSpPr/>
          <p:nvPr/>
        </p:nvCxnSpPr>
        <p:spPr>
          <a:xfrm>
            <a:off x="495300" y="1190625"/>
            <a:ext cx="11201400" cy="0"/>
          </a:xfrm>
          <a:prstGeom prst="straightConnector1">
            <a:avLst/>
          </a:prstGeom>
          <a:ln w="9525">
            <a:solidFill>
              <a:srgbClr val="d0d8e5"/>
            </a:solidFill>
            <a:prstDash val="solid"/>
          </a:ln>
        </p:spPr>
      </p:cxnSp>
      <p:sp>
        <p:nvSpPr>
          <p:cNvPr id="4" name=""/>
          <p:cNvSpPr>
            <a:spLocks noGrp="1"/>
          </p:cNvSpPr>
          <p:nvPr/>
        </p:nvSpPr>
        <p:spPr>
          <a:xfrm>
            <a:off x="11191875" y="630555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  <a:endParaRPr sz="900" b="1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495300" y="152400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159"/>
          </a:bodyPr>
          <a:lstStyle/>
          <a:p>
            <a:pPr algn="l">
              <a:defRPr sz="17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계약서 분석 프롬프트</a:t>
            </a:r>
            <a:endParaRPr sz="1725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495300" y="204787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계약 원문·규칙 기준선·검색 법령 입력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495300" y="24765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원문에 없는 사실 생성 금지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495300" y="29051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부정문 오탐·기재 내용 재권고 금지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495300" y="33337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위험도·이유·권고·대체 문구 JSON 출력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6477000" y="152400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159"/>
          </a:bodyPr>
          <a:lstStyle/>
          <a:p>
            <a:pPr algn="l">
              <a:defRPr sz="172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노동법 상담 프롬프트</a:t>
            </a:r>
            <a:endParaRPr sz="1725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6477000" y="204787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첫 문장에서 결론 제시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6477000" y="24765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이후 법적 근거와 예외 설명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6477000" y="29051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질문과 무관한 조문 설명 금지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6477000" y="33337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실제 사용한 법령만 출처로 표시</a:t>
            </a:r>
            <a:endParaRPr sz="135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495300" y="4333875"/>
            <a:ext cx="10668000" cy="1095375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742950" y="45720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4aa3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aa3ff"/>
                </a:solidFill>
                <a:latin typeface="Arial"/>
                <a:ea typeface="Arial"/>
                <a:cs typeface="Arial"/>
              </a:rPr>
              <a:t>공통 제한 규칙</a:t>
            </a:r>
            <a:endParaRPr sz="1350" b="1">
              <a:solidFill>
                <a:srgbClr val="4aa3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2714625" y="4524375"/>
            <a:ext cx="800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20000"/>
          </a:bodyPr>
          <a:lstStyle/>
          <a:p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근거 부족 시 생성 중단 · 구조화 출력 검증 · 체크리스트 충돌 검사 · 답변과 인용 법령 일치 확인</a:t>
            </a:r>
            <a:endParaRPr sz="157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>
            <a:spLocks noGrp="1"/>
          </p:cNvSpPr>
          <p:nvPr/>
        </p:nvSpPr>
        <p:spPr>
          <a:xfrm>
            <a:off x="4953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defRPr sz="975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3.4.5 AI 결과 저장 구조</a:t>
            </a:r>
            <a:endParaRPr sz="975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495300" y="5524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결과 저장 구조</a:t>
            </a:r>
            <a:endParaRPr sz="27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2" name=""/>
          <p:cNvCxnSpPr/>
          <p:nvPr/>
        </p:nvCxnSpPr>
        <p:spPr>
          <a:xfrm>
            <a:off x="495300" y="1190625"/>
            <a:ext cx="11201400" cy="0"/>
          </a:xfrm>
          <a:prstGeom prst="straightConnector1">
            <a:avLst/>
          </a:prstGeom>
          <a:ln w="9525">
            <a:solidFill>
              <a:srgbClr val="d0d8e5"/>
            </a:solidFill>
            <a:prstDash val="solid"/>
          </a:ln>
        </p:spPr>
      </p:cxnSp>
      <p:sp>
        <p:nvSpPr>
          <p:cNvPr id="4" name=""/>
          <p:cNvSpPr>
            <a:spLocks noGrp="1"/>
          </p:cNvSpPr>
          <p:nvPr/>
        </p:nvSpPr>
        <p:spPr>
          <a:xfrm>
            <a:off x="11191875" y="630555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  <a:endParaRPr sz="900" b="1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4953000" y="1381125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9525">
            <a:solidFill>
              <a:srgbClr val="d0d8e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5067300" y="15430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67"/>
          </a:bodyPr>
          <a:lstStyle/>
          <a:p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users</a:t>
            </a:r>
            <a:endParaRPr sz="15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5067300" y="1857375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사용자</a:t>
            </a:r>
            <a:endParaRPr sz="105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7" name=""/>
          <p:cNvCxnSpPr/>
          <p:nvPr/>
        </p:nvCxnSpPr>
        <p:spPr>
          <a:xfrm>
            <a:off x="1524000" y="2857500"/>
            <a:ext cx="8763000" cy="0"/>
          </a:xfrm>
          <a:prstGeom prst="straightConnector1">
            <a:avLst/>
          </a:prstGeom>
          <a:ln w="28575">
            <a:solidFill>
              <a:srgbClr val="d0d8e5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>
            <a:off x="6096000" y="2143125"/>
            <a:ext cx="0" cy="714375"/>
          </a:xfrm>
          <a:prstGeom prst="straightConnector1">
            <a:avLst/>
          </a:prstGeom>
          <a:ln w="19050">
            <a:solidFill>
              <a:srgbClr val="d0d8e5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>
            <a:off x="1571625" y="2857500"/>
            <a:ext cx="0" cy="619125"/>
          </a:xfrm>
          <a:prstGeom prst="straightConnector1">
            <a:avLst/>
          </a:prstGeom>
          <a:ln w="19050">
            <a:solidFill>
              <a:srgbClr val="d0d8e5"/>
            </a:solidFill>
            <a:prstDash val="solid"/>
          </a:ln>
        </p:spPr>
      </p:cxnSp>
      <p:sp>
        <p:nvSpPr>
          <p:cNvPr id="11" name=""/>
          <p:cNvSpPr>
            <a:spLocks noGrp="1"/>
          </p:cNvSpPr>
          <p:nvPr/>
        </p:nvSpPr>
        <p:spPr>
          <a:xfrm>
            <a:off x="571500" y="3476625"/>
            <a:ext cx="200025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0d8e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685800" y="36385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67"/>
          </a:bodyPr>
          <a:lstStyle/>
          <a:p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contracts</a:t>
            </a:r>
            <a:endParaRPr sz="15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685800" y="3952875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계약 메타·상태</a:t>
            </a:r>
            <a:endParaRPr sz="105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" name=""/>
          <p:cNvCxnSpPr/>
          <p:nvPr/>
        </p:nvCxnSpPr>
        <p:spPr>
          <a:xfrm>
            <a:off x="4000500" y="2857500"/>
            <a:ext cx="0" cy="619125"/>
          </a:xfrm>
          <a:prstGeom prst="straightConnector1">
            <a:avLst/>
          </a:prstGeom>
          <a:ln w="19050">
            <a:solidFill>
              <a:srgbClr val="d0d8e5"/>
            </a:solidFill>
            <a:prstDash val="solid"/>
          </a:ln>
        </p:spPr>
      </p:cxnSp>
      <p:sp>
        <p:nvSpPr>
          <p:cNvPr id="15" name=""/>
          <p:cNvSpPr>
            <a:spLocks noGrp="1"/>
          </p:cNvSpPr>
          <p:nvPr/>
        </p:nvSpPr>
        <p:spPr>
          <a:xfrm>
            <a:off x="3000375" y="3476625"/>
            <a:ext cx="200025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0d8e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3114675" y="36385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67"/>
          </a:bodyPr>
          <a:lstStyle/>
          <a:p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analysis_results</a:t>
            </a:r>
            <a:endParaRPr sz="15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3114675" y="3952875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result_json</a:t>
            </a:r>
            <a:endParaRPr sz="105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7" name=""/>
          <p:cNvCxnSpPr/>
          <p:nvPr/>
        </p:nvCxnSpPr>
        <p:spPr>
          <a:xfrm>
            <a:off x="6905625" y="2857500"/>
            <a:ext cx="0" cy="619125"/>
          </a:xfrm>
          <a:prstGeom prst="straightConnector1">
            <a:avLst/>
          </a:prstGeom>
          <a:ln w="19050">
            <a:solidFill>
              <a:srgbClr val="d0d8e5"/>
            </a:solidFill>
            <a:prstDash val="solid"/>
          </a:ln>
        </p:spPr>
      </p:cxnSp>
      <p:sp>
        <p:nvSpPr>
          <p:cNvPr id="19" name=""/>
          <p:cNvSpPr>
            <a:spLocks noGrp="1"/>
          </p:cNvSpPr>
          <p:nvPr/>
        </p:nvSpPr>
        <p:spPr>
          <a:xfrm>
            <a:off x="5905500" y="3476625"/>
            <a:ext cx="200025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0d8e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6019800" y="36385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2500" lnSpcReduction="20000"/>
          </a:bodyPr>
          <a:lstStyle/>
          <a:p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contract_question_history</a:t>
            </a:r>
            <a:endParaRPr sz="15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6019800" y="3952875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question·response_json</a:t>
            </a:r>
            <a:endParaRPr sz="105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1" name=""/>
          <p:cNvCxnSpPr/>
          <p:nvPr/>
        </p:nvCxnSpPr>
        <p:spPr>
          <a:xfrm>
            <a:off x="9953625" y="2857500"/>
            <a:ext cx="0" cy="619125"/>
          </a:xfrm>
          <a:prstGeom prst="straightConnector1">
            <a:avLst/>
          </a:prstGeom>
          <a:ln w="19050">
            <a:solidFill>
              <a:srgbClr val="d0d8e5"/>
            </a:solidFill>
            <a:prstDash val="solid"/>
          </a:ln>
        </p:spPr>
      </p:cxnSp>
      <p:sp>
        <p:nvSpPr>
          <p:cNvPr id="23" name=""/>
          <p:cNvSpPr>
            <a:spLocks noGrp="1"/>
          </p:cNvSpPr>
          <p:nvPr/>
        </p:nvSpPr>
        <p:spPr>
          <a:xfrm>
            <a:off x="8953500" y="3476625"/>
            <a:ext cx="200025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0d8e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9067800" y="36385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2500" lnSpcReduction="20000"/>
          </a:bodyPr>
          <a:lstStyle/>
          <a:p>
            <a:pPr algn="ctr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legal_consultation_history</a:t>
            </a:r>
            <a:endParaRPr sz="15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9067800" y="3952875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ct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question·response_json</a:t>
            </a:r>
            <a:endParaRPr sz="1050" b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495300" y="500062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667"/>
          </a:bodyPr>
          <a:lstStyle/>
          <a:p>
            <a:pPr algn="l">
              <a:defRPr sz="1500" b="1">
                <a:solidFill>
                  <a:srgbClr val="176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ff"/>
                </a:solidFill>
                <a:latin typeface="Arial"/>
                <a:ea typeface="Arial"/>
                <a:cs typeface="Arial"/>
              </a:rPr>
              <a:t>마이페이지 조회</a:t>
            </a:r>
            <a:endParaRPr sz="1500" b="1">
              <a:solidFill>
                <a:srgbClr val="1769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2333625" y="49530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JWT 사용자 확인 → 사용자 ID 기준 계약·분석·상담 이력 조회 → 결과 보기 화면으로 이동</a:t>
            </a:r>
            <a:endParaRPr sz="1500" b="1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495300" y="5715000"/>
            <a:ext cx="10668000" cy="428625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685800" y="5819775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분석 결과와 상담 응답은 JSON으로 저장해 화면 복원과 출처 재표시에 사용</a:t>
            </a:r>
            <a:endParaRPr sz="13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582</ep:Words>
  <ep:PresentationFormat>Converted Presentation</ep:PresentationFormat>
  <ep:Paragraphs>177</ep:Paragraphs>
  <ep:Slides>11</ep:Slides>
  <ep:Notes>11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ChatGPT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human-21</cp:lastModifiedBy>
  <dcterms:modified xsi:type="dcterms:W3CDTF">2026-08-05T07:27:41.771</dcterms:modified>
  <cp:revision>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