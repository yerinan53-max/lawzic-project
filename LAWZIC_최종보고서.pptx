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ddc6e60e2d40fe" /><Relationship Type="http://schemas.openxmlformats.org/officeDocument/2006/relationships/extended-properties" Target="/docProps/app.xml" Id="R4f1f39f0c89f45e0" /><Relationship Type="http://schemas.openxmlformats.org/officeDocument/2006/relationships/officeDocument" Target="/ppt/presentation.xml" Id="R309c420775cb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b47f63ba94236"/>
  </p:sldMasterIdLst>
  <p:notesMasterIdLst>
    <p:notesMasterId xmlns:r="http://schemas.openxmlformats.org/officeDocument/2006/relationships" r:id="Rf9f83605f2894ad2"/>
  </p:notesMasterIdLst>
  <p:sldIdLst>
    <p:sldId xmlns:r="http://schemas.openxmlformats.org/officeDocument/2006/relationships" id="256" r:id="R9615e23ea27243e0"/>
    <p:sldId xmlns:r="http://schemas.openxmlformats.org/officeDocument/2006/relationships" id="257" r:id="R777a85db8d9c4a93"/>
    <p:sldId xmlns:r="http://schemas.openxmlformats.org/officeDocument/2006/relationships" id="258" r:id="Raae107fe61d84367"/>
    <p:sldId xmlns:r="http://schemas.openxmlformats.org/officeDocument/2006/relationships" id="259" r:id="R445267f3f2b94e24"/>
    <p:sldId xmlns:r="http://schemas.openxmlformats.org/officeDocument/2006/relationships" id="260" r:id="R7df3f97291d74669"/>
    <p:sldId xmlns:r="http://schemas.openxmlformats.org/officeDocument/2006/relationships" id="261" r:id="R80d404e41403445f"/>
    <p:sldId xmlns:r="http://schemas.openxmlformats.org/officeDocument/2006/relationships" id="262" r:id="R65118825a1e047f3"/>
    <p:sldId xmlns:r="http://schemas.openxmlformats.org/officeDocument/2006/relationships" id="263" r:id="R2922b7c98da945e3"/>
    <p:sldId xmlns:r="http://schemas.openxmlformats.org/officeDocument/2006/relationships" id="264" r:id="R3789546721fc45e5"/>
    <p:sldId xmlns:r="http://schemas.openxmlformats.org/officeDocument/2006/relationships" id="265" r:id="Ra416bf075a754b01"/>
    <p:sldId xmlns:r="http://schemas.openxmlformats.org/officeDocument/2006/relationships" id="266" r:id="R6ce37c4647e34ddc"/>
    <p:sldId xmlns:r="http://schemas.openxmlformats.org/officeDocument/2006/relationships" id="267" r:id="R91cd50730a214a7e"/>
    <p:sldId xmlns:r="http://schemas.openxmlformats.org/officeDocument/2006/relationships" id="268" r:id="Rfb632c1d3c9e4b89"/>
    <p:sldId xmlns:r="http://schemas.openxmlformats.org/officeDocument/2006/relationships" id="269" r:id="R7d59ef6ce9c2454f"/>
    <p:sldId xmlns:r="http://schemas.openxmlformats.org/officeDocument/2006/relationships" id="270" r:id="R8db02348f48e431f"/>
    <p:sldId xmlns:r="http://schemas.openxmlformats.org/officeDocument/2006/relationships" id="271" r:id="R0b3d7eeaa8f8427b"/>
    <p:sldId xmlns:r="http://schemas.openxmlformats.org/officeDocument/2006/relationships" id="272" r:id="Rbaa15d7270454e42"/>
    <p:sldId xmlns:r="http://schemas.openxmlformats.org/officeDocument/2006/relationships" id="273" r:id="R904afe3736f247bb"/>
    <p:sldId xmlns:r="http://schemas.openxmlformats.org/officeDocument/2006/relationships" id="274" r:id="R9a5b8606b5f14c92"/>
    <p:sldId xmlns:r="http://schemas.openxmlformats.org/officeDocument/2006/relationships" id="275" r:id="Rff7d8cc4b04c49ad"/>
    <p:sldId xmlns:r="http://schemas.openxmlformats.org/officeDocument/2006/relationships" id="276" r:id="R7361e7aa64b34a8f"/>
    <p:sldId xmlns:r="http://schemas.openxmlformats.org/officeDocument/2006/relationships" id="277" r:id="R583565eb55ac44f0"/>
    <p:sldId xmlns:r="http://schemas.openxmlformats.org/officeDocument/2006/relationships" id="278" r:id="R753801f7aea04c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c7fa7d8634bbb" /><Relationship Type="http://schemas.openxmlformats.org/officeDocument/2006/relationships/slideMaster" Target="/ppt/slideMasters/slideMaster1.xml" Id="R321b47f63ba94236" /><Relationship Type="http://schemas.openxmlformats.org/officeDocument/2006/relationships/notesMaster" Target="/ppt/notesMasters/notesMaster1.xml" Id="Rf9f83605f2894ad2" /><Relationship Type="http://schemas.openxmlformats.org/officeDocument/2006/relationships/presProps" Target="/ppt/presProps.xml" Id="Rf8bf32d5860c44fd" /><Relationship Type="http://schemas.openxmlformats.org/officeDocument/2006/relationships/tableStyles" Target="/ppt/tableStyles.xml" Id="Rf11acfb0a9444947" /><Relationship Type="http://schemas.openxmlformats.org/officeDocument/2006/relationships/slide" Target="/ppt/slides/slide1.xml" Id="R9615e23ea27243e0" /><Relationship Type="http://schemas.openxmlformats.org/officeDocument/2006/relationships/slide" Target="/ppt/slides/slide2.xml" Id="R777a85db8d9c4a93" /><Relationship Type="http://schemas.openxmlformats.org/officeDocument/2006/relationships/slide" Target="/ppt/slides/slide3.xml" Id="Raae107fe61d84367" /><Relationship Type="http://schemas.openxmlformats.org/officeDocument/2006/relationships/slide" Target="/ppt/slides/slide4.xml" Id="R445267f3f2b94e24" /><Relationship Type="http://schemas.openxmlformats.org/officeDocument/2006/relationships/slide" Target="/ppt/slides/slide5.xml" Id="R7df3f97291d74669" /><Relationship Type="http://schemas.openxmlformats.org/officeDocument/2006/relationships/slide" Target="/ppt/slides/slide6.xml" Id="R80d404e41403445f" /><Relationship Type="http://schemas.openxmlformats.org/officeDocument/2006/relationships/slide" Target="/ppt/slides/slide7.xml" Id="R65118825a1e047f3" /><Relationship Type="http://schemas.openxmlformats.org/officeDocument/2006/relationships/slide" Target="/ppt/slides/slide8.xml" Id="R2922b7c98da945e3" /><Relationship Type="http://schemas.openxmlformats.org/officeDocument/2006/relationships/slide" Target="/ppt/slides/slide9.xml" Id="R3789546721fc45e5" /><Relationship Type="http://schemas.openxmlformats.org/officeDocument/2006/relationships/slide" Target="/ppt/slides/slide10.xml" Id="Ra416bf075a754b01" /><Relationship Type="http://schemas.openxmlformats.org/officeDocument/2006/relationships/slide" Target="/ppt/slides/slide11.xml" Id="R6ce37c4647e34ddc" /><Relationship Type="http://schemas.openxmlformats.org/officeDocument/2006/relationships/slide" Target="/ppt/slides/slide12.xml" Id="R91cd50730a214a7e" /><Relationship Type="http://schemas.openxmlformats.org/officeDocument/2006/relationships/slide" Target="/ppt/slides/slide13.xml" Id="Rfb632c1d3c9e4b89" /><Relationship Type="http://schemas.openxmlformats.org/officeDocument/2006/relationships/slide" Target="/ppt/slides/slide14.xml" Id="R7d59ef6ce9c2454f" /><Relationship Type="http://schemas.openxmlformats.org/officeDocument/2006/relationships/slide" Target="/ppt/slides/slide15.xml" Id="R8db02348f48e431f" /><Relationship Type="http://schemas.openxmlformats.org/officeDocument/2006/relationships/slide" Target="/ppt/slides/slide16.xml" Id="R0b3d7eeaa8f8427b" /><Relationship Type="http://schemas.openxmlformats.org/officeDocument/2006/relationships/slide" Target="/ppt/slides/slide17.xml" Id="Rbaa15d7270454e42" /><Relationship Type="http://schemas.openxmlformats.org/officeDocument/2006/relationships/slide" Target="/ppt/slides/slide18.xml" Id="R904afe3736f247bb" /><Relationship Type="http://schemas.openxmlformats.org/officeDocument/2006/relationships/slide" Target="/ppt/slides/slide19.xml" Id="R9a5b8606b5f14c92" /><Relationship Type="http://schemas.openxmlformats.org/officeDocument/2006/relationships/slide" Target="/ppt/slides/slide20.xml" Id="Rff7d8cc4b04c49ad" /><Relationship Type="http://schemas.openxmlformats.org/officeDocument/2006/relationships/slide" Target="/ppt/slides/slide21.xml" Id="R7361e7aa64b34a8f" /><Relationship Type="http://schemas.openxmlformats.org/officeDocument/2006/relationships/slide" Target="/ppt/slides/slide22.xml" Id="R583565eb55ac44f0" /><Relationship Type="http://schemas.openxmlformats.org/officeDocument/2006/relationships/slide" Target="/ppt/slides/slide23.xml" Id="R753801f7aea0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2a3b40456d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6bfef4ca2c4ea5" /><Relationship Type="http://schemas.openxmlformats.org/officeDocument/2006/relationships/notesMaster" Target="/ppt/notesMasters/notesMaster1.xml" Id="Rb7aa74f43098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f4b25e0fc47a5" /><Relationship Type="http://schemas.openxmlformats.org/officeDocument/2006/relationships/notesMaster" Target="/ppt/notesMasters/notesMaster1.xml" Id="R2afbf5433b304f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8d9ac77a34fb0" /><Relationship Type="http://schemas.openxmlformats.org/officeDocument/2006/relationships/notesMaster" Target="/ppt/notesMasters/notesMaster1.xml" Id="R196dd91a6030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64ff13dc56496e" /><Relationship Type="http://schemas.openxmlformats.org/officeDocument/2006/relationships/notesMaster" Target="/ppt/notesMasters/notesMaster1.xml" Id="R95c8f054f1be49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838f6197e44dd0" /><Relationship Type="http://schemas.openxmlformats.org/officeDocument/2006/relationships/notesMaster" Target="/ppt/notesMasters/notesMaster1.xml" Id="R0eda50e2f320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c2f95b35b74f06" /><Relationship Type="http://schemas.openxmlformats.org/officeDocument/2006/relationships/notesMaster" Target="/ppt/notesMasters/notesMaster1.xml" Id="R534c8140cbf0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ad285ed144b0f" /><Relationship Type="http://schemas.openxmlformats.org/officeDocument/2006/relationships/notesMaster" Target="/ppt/notesMasters/notesMaster1.xml" Id="R8738a851e77b4f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cf9321f0e444af" /><Relationship Type="http://schemas.openxmlformats.org/officeDocument/2006/relationships/notesMaster" Target="/ppt/notesMasters/notesMaster1.xml" Id="R145e534917b14a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1c4a27d9354c95" /><Relationship Type="http://schemas.openxmlformats.org/officeDocument/2006/relationships/notesMaster" Target="/ppt/notesMasters/notesMaster1.xml" Id="R920a0b40ebfc4e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29a662ded4853" /><Relationship Type="http://schemas.openxmlformats.org/officeDocument/2006/relationships/notesMaster" Target="/ppt/notesMasters/notesMaster1.xml" Id="R94a07cd356ad46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9573f050314c66" /><Relationship Type="http://schemas.openxmlformats.org/officeDocument/2006/relationships/notesMaster" Target="/ppt/notesMasters/notesMaster1.xml" Id="Raa16b0414a0548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5d90c661ab4ebb" /><Relationship Type="http://schemas.openxmlformats.org/officeDocument/2006/relationships/notesMaster" Target="/ppt/notesMasters/notesMaster1.xml" Id="R35c5d18a8b984f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76c53162b24a3d" /><Relationship Type="http://schemas.openxmlformats.org/officeDocument/2006/relationships/notesMaster" Target="/ppt/notesMasters/notesMaster1.xml" Id="Ra767f914796845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2577d8823d407d" /><Relationship Type="http://schemas.openxmlformats.org/officeDocument/2006/relationships/notesMaster" Target="/ppt/notesMasters/notesMaster1.xml" Id="R0f5234af0a8343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36edb7dfb148fd" /><Relationship Type="http://schemas.openxmlformats.org/officeDocument/2006/relationships/notesMaster" Target="/ppt/notesMasters/notesMaster1.xml" Id="R27dca4edfaed44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825b46c5724221" /><Relationship Type="http://schemas.openxmlformats.org/officeDocument/2006/relationships/notesMaster" Target="/ppt/notesMasters/notesMaster1.xml" Id="Rc7665bb6a5be4a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cc6b460ec14628" /><Relationship Type="http://schemas.openxmlformats.org/officeDocument/2006/relationships/notesMaster" Target="/ppt/notesMasters/notesMaster1.xml" Id="R715bd4fc39fa43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6f2501742f4ce2" /><Relationship Type="http://schemas.openxmlformats.org/officeDocument/2006/relationships/notesMaster" Target="/ppt/notesMasters/notesMaster1.xml" Id="Rd6da3663127048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3d269fc403478d" /><Relationship Type="http://schemas.openxmlformats.org/officeDocument/2006/relationships/notesMaster" Target="/ppt/notesMasters/notesMaster1.xml" Id="Rebd7177449904a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4db4637a034ce7" /><Relationship Type="http://schemas.openxmlformats.org/officeDocument/2006/relationships/notesMaster" Target="/ppt/notesMasters/notesMaster1.xml" Id="R96b844456d2642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007312b6184139" /><Relationship Type="http://schemas.openxmlformats.org/officeDocument/2006/relationships/notesMaster" Target="/ppt/notesMasters/notesMaster1.xml" Id="R9aaaa36189ee463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dd1d8b3c9b4cb8" /><Relationship Type="http://schemas.openxmlformats.org/officeDocument/2006/relationships/notesMaster" Target="/ppt/notesMasters/notesMaster1.xml" Id="R2c9362d060334c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dd9f4d707447fc" /><Relationship Type="http://schemas.openxmlformats.org/officeDocument/2006/relationships/notesMaster" Target="/ppt/notesMasters/notesMaster1.xml" Id="R4d1add8c05f9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https://huggingface.co/jhgan/ko-sroberta-multitask</a:t>
            </a:r>
          </a:p>
          <a:p xmlns:a="http://schemas.openxmlformats.org/drawingml/2006/main">
            <a:r>
              <a:t>- ai/app/rag/service.py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로컬 소스 코드 및 설계 문서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https://open.law.go.kr/</a:t>
            </a:r>
          </a:p>
          <a:p xmlns:a="http://schemas.openxmlformats.org/drawingml/2006/main">
            <a:r>
              <a:t>- ai/scripts/sync_laws.py</a:t>
            </a:r>
          </a:p>
          <a:p xmlns:a="http://schemas.openxmlformats.org/drawingml/2006/main">
            <a:r>
              <a:t>- docs/LAW_DATA_PIPELINE.md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e70e1c18e4d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d51bff69234d0d" /><Relationship Type="http://schemas.openxmlformats.org/officeDocument/2006/relationships/slideLayout" Target="/ppt/slideLayouts/slideLayout1.xml" Id="R8e75caea503f45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5caea503f45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9e590e21f4846" /><Relationship Type="http://schemas.openxmlformats.org/officeDocument/2006/relationships/notesSlide" Target="/ppt/notesSlides/notesSlide1.xml" Id="R4af3aefb542a45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872fe842f4017" /><Relationship Type="http://schemas.openxmlformats.org/officeDocument/2006/relationships/notesSlide" Target="/ppt/notesSlides/notesSlide2.xml" Id="R823b5f8a73c240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946e1b3094e57" /><Relationship Type="http://schemas.openxmlformats.org/officeDocument/2006/relationships/notesSlide" Target="/ppt/notesSlides/notesSlide3.xml" Id="Rd516b0e7989746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cd9c4c1a84de2" /><Relationship Type="http://schemas.openxmlformats.org/officeDocument/2006/relationships/notesSlide" Target="/ppt/notesSlides/notesSlide4.xml" Id="R1f11745189b245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e658e7bcd47c0" /><Relationship Type="http://schemas.openxmlformats.org/officeDocument/2006/relationships/notesSlide" Target="/ppt/notesSlides/notesSlide5.xml" Id="R7a7392e6a525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ac4987ad840b3" /><Relationship Type="http://schemas.openxmlformats.org/officeDocument/2006/relationships/notesSlide" Target="/ppt/notesSlides/notesSlide6.xml" Id="Ref50b581c2ee40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d18ad55bf4bd8" /><Relationship Type="http://schemas.openxmlformats.org/officeDocument/2006/relationships/notesSlide" Target="/ppt/notesSlides/notesSlide7.xml" Id="Rb815926d4d3a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71b0b00184663" /><Relationship Type="http://schemas.openxmlformats.org/officeDocument/2006/relationships/notesSlide" Target="/ppt/notesSlides/notesSlide8.xml" Id="R1bb3dca4d2dd47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04af0381d4a78" /><Relationship Type="http://schemas.openxmlformats.org/officeDocument/2006/relationships/notesSlide" Target="/ppt/notesSlides/notesSlide9.xml" Id="R24eb6d46d7a049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ccdc7e4f84ded" /><Relationship Type="http://schemas.openxmlformats.org/officeDocument/2006/relationships/notesSlide" Target="/ppt/notesSlides/notesSlide10.xml" Id="R3f4f551815274a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31c2e57144790" /><Relationship Type="http://schemas.openxmlformats.org/officeDocument/2006/relationships/notesSlide" Target="/ppt/notesSlides/notesSlide11.xml" Id="Rad10c5fbd22844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dab6d065b464c" /><Relationship Type="http://schemas.openxmlformats.org/officeDocument/2006/relationships/notesSlide" Target="/ppt/notesSlides/notesSlide12.xml" Id="R231b86e8d41643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06109419642f5" /><Relationship Type="http://schemas.openxmlformats.org/officeDocument/2006/relationships/notesSlide" Target="/ppt/notesSlides/notesSlide13.xml" Id="R726407d6cbf541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2e979cab0419e" /><Relationship Type="http://schemas.openxmlformats.org/officeDocument/2006/relationships/notesSlide" Target="/ppt/notesSlides/notesSlide14.xml" Id="R06db955a8c7446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fc0ef17354992" /><Relationship Type="http://schemas.openxmlformats.org/officeDocument/2006/relationships/notesSlide" Target="/ppt/notesSlides/notesSlide15.xml" Id="Rcd68ad7ebcf344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aecbc788949c0" /><Relationship Type="http://schemas.openxmlformats.org/officeDocument/2006/relationships/notesSlide" Target="/ppt/notesSlides/notesSlide16.xml" Id="R42a5f13aa7d74f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e7702b2b24ec5" /><Relationship Type="http://schemas.openxmlformats.org/officeDocument/2006/relationships/notesSlide" Target="/ppt/notesSlides/notesSlide17.xml" Id="R232df42e4f2a4b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eb92014b346ac" /><Relationship Type="http://schemas.openxmlformats.org/officeDocument/2006/relationships/notesSlide" Target="/ppt/notesSlides/notesSlide18.xml" Id="Rbcc26efce4bf4f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f9d74a63b4cdb" /><Relationship Type="http://schemas.openxmlformats.org/officeDocument/2006/relationships/notesSlide" Target="/ppt/notesSlides/notesSlide19.xml" Id="Rb0cae9cececb42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f8812d7814f02" /><Relationship Type="http://schemas.openxmlformats.org/officeDocument/2006/relationships/notesSlide" Target="/ppt/notesSlides/notesSlide20.xml" Id="R1d2059e78c824a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07c6e6f70449e" /><Relationship Type="http://schemas.openxmlformats.org/officeDocument/2006/relationships/notesSlide" Target="/ppt/notesSlides/notesSlide21.xml" Id="R71f03f43216940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217f9fdc94072" /><Relationship Type="http://schemas.openxmlformats.org/officeDocument/2006/relationships/notesSlide" Target="/ppt/notesSlides/notesSlide22.xml" Id="Rc0efe7110ba345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559c7b09249ec" /><Relationship Type="http://schemas.openxmlformats.org/officeDocument/2006/relationships/notesSlide" Target="/ppt/notesSlides/notesSlide23.xml" Id="Rb70e5bdf89df4b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8BF67-0C4A-4CA5-B235-78B5C51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BB620-DC7C-4F64-BF95-B30D7EF8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E9E0B-F0B8-4D2E-A359-E8572053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Agentic RAG 기반</a:t>
            </a:r>
          </a:p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근로계약서 위험조항 분석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F1EE3-D402-482B-B412-C5FE593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476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3DA2A-2393-458A-B21C-DEFE7B71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953500" y="2428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2563E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480DC-24F3-4E9F-8D08-610D4D62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180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분석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검증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상담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리포트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70F62-A565-417F-8AF7-7C44935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프로젝트 보고서 · 2026</a:t>
            </a:r>
          </a:p>
        </p:txBody>
      </p:sp>
    </p:spTree>
    <p:extLst>
      <p:ext uri="{BB962C8B-B14F-4D97-AF65-F5344CB8AC3E}">
        <p14:creationId xmlns:p14="http://schemas.microsoft.com/office/powerpoint/2010/main" val="20847781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7EE77B-79F4-47C8-82ED-3A3B6A6A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발표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02187-6603-4DFB-B779-495DB33E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73222-B9B4-40F2-A757-451400E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333500" y="14954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BC3B3-3FD1-45A9-A102-A2DE73F4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33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프로젝트 개요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0729E-6EDD-49F7-BF48-F5903311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333500" y="19907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2738A-158A-4303-82D4-D7B22439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28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 기획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AA81F-F6F9-4E47-AA95-9A1B9252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333500" y="24860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281D5-F963-45CD-AEE8-32BEB8D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24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서비스 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D43AD-4BA9-43CA-9409-23082154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333500" y="29813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6F56F-42CC-4046-90E3-0A831C1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19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기술 스택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11425-1912-4380-BBF1-F018A8D3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333500" y="34766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94DB6-9D3D-4241-94F5-7DA46880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14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워크플로 에이전트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A9FC7-3A23-4CE3-B23B-A924AE54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333500" y="39719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55DA3-65FA-4C8D-932E-9AC3760F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상담봇·법령 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BF8ED-F76A-471E-8A60-2F73D1B1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333500" y="44672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6EEBA-9892-46EE-B18A-26CC5B6B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05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테스트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AFBB2-E5F9-48B5-A21D-404EF1CE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333500" y="49625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0EECF-30EC-47D4-BF7F-0EA02AE5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00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트러블슈팅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85A10-F0BE-4615-BA66-56A9F9C4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1333500" y="545782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8DCCE-7ACE-42DA-80C1-9FA93AA7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95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소감</a:t>
            </a:r>
          </a:p>
        </p:txBody>
      </p:sp>
    </p:spTree>
    <p:extLst>
      <p:ext uri="{BB962C8B-B14F-4D97-AF65-F5344CB8AC3E}">
        <p14:creationId xmlns:p14="http://schemas.microsoft.com/office/powerpoint/2010/main" val="1379856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04884-022F-4CEB-8046-BB0B6127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 검토의 진입 장벽을 낮추는 것이 출발점이었다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97259-65AD-4642-BB4F-9A8880EB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79DB2-7A04-4859-98C0-546C6B0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AF87-D0B3-436E-AD87-8E9A3F56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추진 배경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A9CFE-DCF7-4983-9D24-97E56A96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7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근로계약서는 중요한 권리·의무를 담지만,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비전문가가 위험 조항과 법적 근거를 스스로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찾고 해석하기는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84E9F-2FE7-4999-A838-7F5CF51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12E7D-8B0A-4E3A-A73F-19F3E65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7FAA9-2C83-422E-8974-0FB3BB37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5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긴 문서 · 어려운 법률 용어 · 분산된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B0A37-F6B2-4630-9B5A-5B2ADAF2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5D023-21B5-4A5E-BC09-20F9AA50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해결 방향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4E0D9-A4A4-4F82-BF7D-E847D7A9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업로드 한 번으로 위험 탐지부터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출처·대체 문구까지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DC547-B545-4178-B5D6-58F6C4C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의의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863A7-E6BD-484A-A34D-48EB9857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규칙 기반 분석과 RAG·LLM을 상호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2BE05-1891-480F-9FBE-C604CF95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결과를 ‘판단’이 아닌 설명 가능한 참고 정보로 제공</a:t>
            </a:r>
          </a:p>
        </p:txBody>
      </p:sp>
    </p:spTree>
    <p:extLst>
      <p:ext uri="{BB962C8B-B14F-4D97-AF65-F5344CB8AC3E}">
        <p14:creationId xmlns:p14="http://schemas.microsoft.com/office/powerpoint/2010/main" val="19627601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8DBFF-901C-49E2-9F3C-9E4E2D76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핵심 기능은 ‘업로드 → 분석 → 행동’ 흐름으로 연결된다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CA62-525A-455D-9E6C-4BCCC6C8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A48E2-7487-4ADC-A43F-29B9BA9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EB115-F25E-445B-855A-C8D50D15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 계약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25770-F6F4-4DD0-9333-D05762D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905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업로드·검증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목록/상세/이력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상태·취소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6C44-A66B-4B9F-937E-6FCDBB50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CE2F1-28AD-49AB-87B3-B369355B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  AI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BC0EE-1298-4BF2-B05C-E816A90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2905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조항 탐지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점수·등급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근거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D2EDB-1312-4244-A7E9-035A28FD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DBFAC-C0B9-4849-8852-76EB553F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  결과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62EA7-2A68-482A-B652-5D4B8756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2905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체크리스트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질의응답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수정 문구·PDF 리포트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54325-2A08-47F7-BF71-EDC81AB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인증 기반 소유권 검증을 모든 계약·분석 조회에 적용</a:t>
            </a:r>
          </a:p>
        </p:txBody>
      </p:sp>
    </p:spTree>
    <p:extLst>
      <p:ext uri="{BB962C8B-B14F-4D97-AF65-F5344CB8AC3E}">
        <p14:creationId xmlns:p14="http://schemas.microsoft.com/office/powerpoint/2010/main" val="3074125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14825-FA9A-434F-AFF9-5FD1E8B7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현재의 효용을 운영 가능한 법률 AI로 확장한다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C638F-02AE-4F97-A968-D98C1EC6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7E851-26BF-4F2B-80FE-667E23D9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기대효과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21431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17C63-6ED5-46B9-8232-4861847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검토 시간 단축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조항 누락 감소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중심 의사결정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D8F26-A161-4090-BBAF-B5974420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향후 발전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305300" y="21431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6B37B-249E-4BB0-88BD-DD73264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스캔 PDF OCR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Refresh Token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작업 이력·관측성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24809-8A4C-494F-9954-9D3592E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운영 고도화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115300" y="21431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C28D3-32BE-4019-AFCF-089BC130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Flyway 마이그레이션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공식 법령 자동 동기화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전문가 검토 연계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AC486-BFBE-49D5-B92B-0C0950F3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목표: 빠른 분석을 넘어, 근거가 추적되고 운영 변경에 견디는 서비스</a:t>
            </a:r>
          </a:p>
        </p:txBody>
      </p:sp>
    </p:spTree>
    <p:extLst>
      <p:ext uri="{BB962C8B-B14F-4D97-AF65-F5344CB8AC3E}">
        <p14:creationId xmlns:p14="http://schemas.microsoft.com/office/powerpoint/2010/main" val="19702507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9CB29-6594-4728-AA90-6254D8F6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사용자가 법률 지식 없이도 다음 행동을 결정하도록 기획했다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3688F-5468-429A-8E0C-1D265166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D17F7-95AC-44CE-893C-7AEEE4A5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핵심 사용자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1F897-EE31-4DDA-93E4-6938E1F2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6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근로계약서를 처음 검토하는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구직자·근로자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714750" y="3000375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6AB98-3591-4F30-835F-FBC3C29F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05CE1-04D6-4405-80C5-BC9E3C64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682B1-21CF-4F67-A585-C38B8F2F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 업로드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3CFA2-FFF8-40EA-BC52-E66AFD0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66232-C4E6-48AA-95D5-685C883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ADEFE-2FCE-4337-A53D-DD70AEF3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진행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BC92E-ED21-49CB-ACFC-9CC047CB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E8DBB-980C-4207-82FC-99AA53F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71EEF-7CDD-414F-BD4E-7E5E39F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위험·근거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4BCA9-37C4-43DB-94C4-B3786088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BEB2C-9D16-49F2-9162-64097DFC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908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62E32-0FD3-4AF9-AD32-26270F9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질문·수정안 활용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55EDC-3A9A-4BC6-A3FF-58AA2789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038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1D0BA-1C76-40EA-85E6-A2DDB8EA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기획 원칙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6A993-247D-4FE5-8FC3-655DB19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입력은 단순하게 · 결과는 근거와 함께 · 실패/취소 상태는 명확하게</a:t>
            </a:r>
          </a:p>
        </p:txBody>
      </p:sp>
    </p:spTree>
    <p:extLst>
      <p:ext uri="{BB962C8B-B14F-4D97-AF65-F5344CB8AC3E}">
        <p14:creationId xmlns:p14="http://schemas.microsoft.com/office/powerpoint/2010/main" val="5404192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B4170-9497-4C34-81F0-D8D3A34B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세 계층이 책임을 분리하고 내부 API로 연결된다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71217-94D9-4320-9FD9-4972948A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3333750" y="3286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7524750" y="3286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BFDA6-FA3D-453F-BFC2-F681606D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04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CD5A1-6ADA-497F-8974-0D4CA75E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E27E9-12D3-4E2C-8A6C-1113BE75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화면·상태 관리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JWT 요청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 시각화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014A8-1654-4197-B33B-F631B550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04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806E4-A408-4718-BE33-40E7836B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861FB-D757-4AF3-BBDB-CA855147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0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인증·권한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계약/메타데이터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연동·저장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DC58D-76A6-4F78-874C-88ED00C5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304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7184C-8951-4CF7-984A-E678C7FC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AF64B-9952-4BEA-8FE1-0B254863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0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텍스트 추출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규칙·RAG·LLM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리포트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4D1B4-ABF3-4127-A1A2-162D07C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49628-5C67-4C68-A064-9D5E0AC4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48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사용자 · 계약 · 분석 · 상담 이력</a:t>
            </a:r>
          </a:p>
        </p:txBody>
      </p:sp>
    </p:spTree>
    <p:extLst>
      <p:ext uri="{BB962C8B-B14F-4D97-AF65-F5344CB8AC3E}">
        <p14:creationId xmlns:p14="http://schemas.microsoft.com/office/powerpoint/2010/main" val="11913211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26528-4024-4C54-8967-FE97440C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계층은 추출·검색·추론·검증을 서로 다른 도구에 맡긴다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2A24C-963A-417E-8755-5B282E81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5F351-B0AF-4063-85B3-90B3C592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문서 처리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953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E3213-F740-44B7-8955-5D923DE8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· PyMuPDF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E123A-B365-4618-B1F4-ACFC982D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PDF 텍스트·페이지 좌표 추출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AEEDD-1F6D-46FF-BA39-4AB75AF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의미 검색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33528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DE5AE-493E-456D-AFEA-1FFE689C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 · ChromaDB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A2CE4-A7DA-485F-9C81-126DB500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한국어 문장 임베딩·법령 검색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D9A0-CE3E-4FFB-A1DE-BAF6ADCF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오케스트레이션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2103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DE6B4-BA7C-4897-9B23-5E7F687C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0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LangGraph · StateGraph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9ECA4-640F-47FE-8B30-D58BCFEF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상태 관리·조건 분기·폴백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FA2AA-3545-4F4E-A4D4-50EEFDCD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생성·판단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9067800" y="19716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93400-33CD-4366-8D17-16E3D68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Ollama · Gemma2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C4F2F-CE94-4B47-880C-682D5DB2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구조화 분석·상담 답변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F916E-B3E1-486E-B9D2-822309EA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066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52BD1-0564-4D13-9807-B37EBFCC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설계 원칙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CBC37-F6EB-4C31-B210-4D052A48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한 모델이 모든 판단을 맡지 않는다. 규칙·검색·LLM 결과를 분리하고 마지막 단계에서 상호 검증한다.</a:t>
            </a:r>
          </a:p>
        </p:txBody>
      </p:sp>
    </p:spTree>
    <p:extLst>
      <p:ext uri="{BB962C8B-B14F-4D97-AF65-F5344CB8AC3E}">
        <p14:creationId xmlns:p14="http://schemas.microsoft.com/office/powerpoint/2010/main" val="2034308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CA2C70-A617-4C73-A9FF-B27E9C3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논리 ERD: 사용자 중심으로 계약·인증·상담 이력이 확장된다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7A5B0-B451-4D25-87D3-1A8D485F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6096000" y="31908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1809750" y="3714750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1809750" y="3714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381500" y="3714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7810500" y="3714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10382250" y="3714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429500" y="2714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7905750" y="2190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905750" y="2190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A5B52-455B-4827-87A8-234C7254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E59CE-7DDB-47C4-B471-A5F61E9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사용자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ECC25-5C12-4397-B8D0-D6C9AD39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35F4A-9BBF-48F4-9144-A4B6C32F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7DDCC-653A-4D02-B11F-56595C9E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BB7EF-8622-4ACF-A603-F6FFF78C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분석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52D85-3986-49D5-AB98-2D1C5C4A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F80E5-DF31-41A9-A32A-FD46B814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 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5E941-B739-46F9-9C1D-9B46075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607EB-91B9-4E65-80B7-0349E6D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6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소셜 계정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981BB-E059-4B02-81D6-589B9DE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8358D-0EBA-459A-A0F3-072AFE63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재설정/로그인 토큰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47C01-1ADD-4031-B3ED-40FE0F71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03ADC-21BF-4BC3-B10C-3B9FBBC6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1C2D5-3BBA-4EB6-A566-1077E45F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E6ACB-D5C5-4886-B097-54351011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71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9682529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972B0B-3FCB-442B-9E30-A1E2980E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물리 ERD: 7개 테이블의 FK·Unique 무결성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7CEC0-443C-4881-A839-5D5BA637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E8BFA-896E-494D-8794-A46FBBE1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E3C88-46F9-42C1-8DCD-6D5B58B0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5E052-7D15-4F76-883D-34809247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CC328-CEE2-45B6-AB43-78213237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email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password_hash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name / role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consent_*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1AEB0-B74C-4FC0-980D-A9218D04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0C9D8-814A-44AD-B435-AC72925C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D99B5-CABA-4092-BDD0-2FDF02E1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04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12AAB-F040-4691-B8E1-EDAD5137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81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stored_filename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uploaded_at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D8634-747E-4499-985A-4840C3F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7A7FA-3516-48A2-BE2C-E0E7315E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C1757-34EB-4EB7-A814-5AB94E7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04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analysis_results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25DE5-CB83-435F-BCB9-85D0104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contract_id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result_json LONGTEXT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created_at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41BFC-F23E-4688-8643-A8A67D99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30288-5FAD-416E-8159-F0C620E1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57005-1C75-4C9F-A07E-626B72EC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049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legal_consultation_history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04438-5E8B-4880-BC00-62E3B94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812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response_json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7E556-7E9D-48F9-92C3-7C4BF61C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D792A-E049-4DDA-B252-57A02119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239D6-D275-48E7-873C-251EBA98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social_identities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2C782-EC5E-44F3-908C-8DF5D72B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provider+provider_user_id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2F9432-685E-4E65-8663-49E4B970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8A5B5-B833-4242-8D6C-0C646ED3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883635-2599-4621-AC7E-C5FB5108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71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password_reset_tokens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2C357-DB99-4AD6-BCB8-F5DDB024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482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token_hash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expires_at / used_at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D77B3-4C7B-4577-B548-7944B020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3420F-7B56-46D8-ADCC-1CDBC0CE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33312-7976-43E5-8FC3-E3EA9404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oauth_login_tickets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5A949-C5A6-48DC-ADFE-05A53606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2838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PK id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FK user_id (nullable)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UQ token_hash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provider / flags</a:t>
            </a:r>
          </a:p>
        </p:txBody>
      </p:sp>
    </p:spTree>
    <p:extLst>
      <p:ext uri="{BB962C8B-B14F-4D97-AF65-F5344CB8AC3E}">
        <p14:creationId xmlns:p14="http://schemas.microsoft.com/office/powerpoint/2010/main" val="16432756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C7469-F39A-4A05-BBF3-E28C671B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기능 구현 ① 인증과 계약 수명주기를 백엔드가 통제한다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016CD-DCA4-42EB-860D-059379EA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3204B-E566-4E64-A6D5-2E65B03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인증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3EA84-1673-44A5-9C12-171BFAAC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이메일 가입·로그인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1E800-6812-45EC-A5C2-B01B0DA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19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Google/Naver OAuth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2231D-3C57-42C7-9BC6-6DBF203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JWT 필터·BCrypt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E04CC-6A56-4178-9F4A-38D27A34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계정 복구·필수 동의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7C2CA-407B-484B-8EE7-06ABB00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계약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2C01A-92C3-444C-AA31-B2EEE9FC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PDF 시그니처·크기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23CFF-B936-4FC1-852E-4C51599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UUID 저장 파일명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65C55-E8A8-4E8C-850C-C8F8EEE8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소유자 기반 조회 권한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684EC-4A59-4DBA-B1D3-13DC2D46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비동기 분석·취소·재시도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30242-34F9-40F4-B839-CD057110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0458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7A1CC-6ACE-498D-86DD-2D26389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995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브라우저는 FastAPI를 직접 호출하지 않고 Spring Boot를 단일 진입점으로 사용</a:t>
            </a:r>
          </a:p>
        </p:txBody>
      </p:sp>
    </p:spTree>
    <p:extLst>
      <p:ext uri="{BB962C8B-B14F-4D97-AF65-F5344CB8AC3E}">
        <p14:creationId xmlns:p14="http://schemas.microsoft.com/office/powerpoint/2010/main" val="6430725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64281-5F28-47D6-873A-F3143B31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기능 구현 ② 규칙·검색·LLM을 단계적으로 검증한다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C0C91-0B8C-4CF7-8F41-871C8DD7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857250" y="34290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BD5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89529-BF29-4FB7-B8E3-CEC002FE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BC7F6-837D-4E54-8BB2-93CD722F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FE7D5-39AF-46DA-95BC-8E3EB93C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텍스트 추출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CF00F-5219-4819-A4AF-894DDC3B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8B78B-AFE1-45B4-BB3C-5D2A81E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924D7-D3FA-4AD0-84A3-1D82DB7E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조항 분리·규칙 탐지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531FA-656C-4FEF-BC23-A5D49E0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D567B-0FCC-4389-AE27-CDCDA717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72184-5741-4F2C-82B8-BB6F1A1E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ChromaDB 법령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ED8A1-C399-4CA1-98CB-5106B679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5B64D-FFED-49B0-9B2F-CEB560C6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1D642-9CC2-48CE-9C27-395F3446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 구조화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820D2-BDC0-4DBF-A0AA-4A9C8741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337CB-7876-4697-A967-B7E26643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19FEB-EA05-437B-9B93-B7F1B83F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상호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F1A48-CB73-47F5-BD9E-EE61BD5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48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8B33E-3652-4DC4-A864-2C28576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9087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84676-E4D0-4E5E-9D46-6840B14C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00500"/>
            <a:ext cx="1476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최종 등급·리포트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8822A-EB16-47A8-9B57-5A8F6D4A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33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6D97B-9D8C-4F23-8F00-87DD7F9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 실패 시에도 규칙 기반 결과로 폴백하여 서비스 중단을 방지</a:t>
            </a:r>
          </a:p>
        </p:txBody>
      </p:sp>
    </p:spTree>
    <p:extLst>
      <p:ext uri="{BB962C8B-B14F-4D97-AF65-F5344CB8AC3E}">
        <p14:creationId xmlns:p14="http://schemas.microsoft.com/office/powerpoint/2010/main" val="9061644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E6429-3164-44DB-99CF-07BE0121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7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LangGraph 워크플로 에이전트는 상태와 실패 경로를 명시적으로 관리한다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322DA-4AAB-4F88-96F9-DEE52F5E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1762125" y="34766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191000" y="34766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381750" y="2524125"/>
            <a:ext cx="666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858250" y="2524125"/>
            <a:ext cx="857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6381750" y="3476625"/>
            <a:ext cx="666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706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8858250" y="3476625"/>
            <a:ext cx="8572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706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10572750" y="39052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CF187-9D83-43C7-9F36-1085809B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90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8EFFA-DBCA-4791-A0C8-85949E06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9F6DA-CE58-4E86-8DDC-A887239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75158-BED1-4DE7-9C25-B9680EC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051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63071-6E18-48E5-A17F-55C4A794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292A8-A0B8-4C23-AAB9-C7630C2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retrieve_laws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F27C4-C38F-488C-87F6-D6C68E6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861E4-92BA-4468-A8F8-0FE6CBB9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526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llm_analyze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6F37E-FE16-4899-9D5E-58765F37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A0634-FC9E-405D-A4E4-E86471BC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52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2E1BF-12C1-480A-9725-241D6D0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BCDC2-6DE2-4AE2-961E-4C545736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051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finalize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465C1-F7BF-4CE8-BC81-BB8A6B49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849B7-8021-4654-B6B7-464ED3CF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196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6BBDC-2D97-472D-B922-235894A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48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규칙 기반 1차 분석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54EEE-34D4-4FFD-ACBB-C95CB8F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8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법령 검색·중복 정리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F9B53-C18D-4B1F-93AD-9959488B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근거 존재 + LLM 활성화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3568D4-80AC-4AEE-8111-44B88C4B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근거 없음·LLM 비활성·오류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26171-0F72-4B9E-AF85-473F85B4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1D013B-BBD7-42B4-9255-FD7FC617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34050"/>
            <a:ext cx="1023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워크플로 에이전트: 자유로운 도구 선택보다 재현 가능한 순서·조건 분기·안전한 폴백에 초점</a:t>
            </a:r>
          </a:p>
        </p:txBody>
      </p:sp>
    </p:spTree>
    <p:extLst>
      <p:ext uri="{BB962C8B-B14F-4D97-AF65-F5344CB8AC3E}">
        <p14:creationId xmlns:p14="http://schemas.microsoft.com/office/powerpoint/2010/main" val="1272236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D8874-DED9-4585-8A03-0A4A2BB4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9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Ko-SRoBERTa는 한국어 법령 의미 검색을 위한 현실적인 기본 모델이었다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BD872-B3E1-47F3-AEEE-DE57D4D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E8D06-A0D7-4586-8A6D-EEC7780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선정 배경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AFC77-648B-4728-9C1C-9D03FEF6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9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한국어 문장 유사도에 최적화된 Sentence Transformer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6AA63-BC2C-492D-8E3F-3F9799EF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6111B-CC7D-46FE-85C1-5A42E046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한국어 의미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B9ECC-307C-4159-8C3A-01DD4F2D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질문과 법령 표현이 달라도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의미가 가까운 조문 탐색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3EC5F-10AC-4D5C-BA3F-57A0F3E0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908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B4580-7904-4E6E-B88E-C125DE5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290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로컬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2C20C-DBA6-464E-963B-E984D610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052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외부 임베딩 API 비용 없이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개인정보 노출 범위 축소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5A79A-DF2F-48E9-B547-52A7484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908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EB597-0D4B-413C-A5EC-20383EF9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운영 균형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B772D-E9CD-4BC1-A3B0-666FF4A9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52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768차원·CPU 실행으로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정확도와 자원 사용 절충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F642E-F00D-4E06-949D-4FA7B8C8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역할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721FD-10BE-44DB-95A8-2B6368BD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Ko-SRoBERTa는 답변을 생성하지 않는다.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문장을 벡터로 바꾸고 관련 법령을 찾는다.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1A4F6-B054-4CD5-A6D3-5348B191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한계: 법률 전용 모델 비교 실험은 향후 과제로 남겼다.</a:t>
            </a:r>
          </a:p>
        </p:txBody>
      </p:sp>
    </p:spTree>
    <p:extLst>
      <p:ext uri="{BB962C8B-B14F-4D97-AF65-F5344CB8AC3E}">
        <p14:creationId xmlns:p14="http://schemas.microsoft.com/office/powerpoint/2010/main" val="118208779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8FE76-78A0-4EA1-9AAB-35F1B2E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노동법 상담봇은 검색 근거가 있을 때만 LLM 답변을 허용한다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787BE-9219-4F07-90CB-8871F04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1733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4019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6305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8591550" y="30003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A9975-6FD4-4362-97A0-6D8252F4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90D11-442B-4807-A093-39B229AE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질문·대화 문맥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1CDB4-D526-426B-A5F5-E8ED9AE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D9314-E209-4830-AE0B-672954B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범위·후속 질문 판정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50A2E-FDBE-4610-B1D9-9D253749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251EA-6ACC-4051-8A4B-364DFBE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법령 RAG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CD66C-4440-42A9-BB69-BF9DACCA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061DD-0EAF-4092-BB9B-BC749608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관련도·출처 필터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86E3D-B9F9-42C6-B89B-846E6F36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B4602-7FFB-467F-BD20-599B15C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146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결론 우선 답변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8DD55-C7AE-4FC9-A65D-F3D4AF24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895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F74B5-5A99-4992-ADFE-EAAE1229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24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안전장치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77421-DCC0-4092-BDE8-685D370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767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 근거 부족 → LLM 호출 중단  |  인용 불일치 → 답변 폐기  |  Ollama 실패 → 검증된 대체 답변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939A0-6071-486A-87A9-81956284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상담봇은 LangGraph 미사용: RAG + LLM + 후처리 검증의 직접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6204775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0E0ED-6B44-4738-9643-BECCBEF5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공식 법령 데이터는 수집부터 재임베딩까지 갱신 경로를 갖는다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4D6FC-4CC2-4FFD-9FCC-CEDA7FB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1428750" y="3095625"/>
            <a:ext cx="8953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BD5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62013-74E0-4D94-8C27-D3672A8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8F809-62B7-4212-82EF-059FD042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4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국가법령정보센터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9AA41-714C-45D5-9898-81E0A361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45개 노동관계 법령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BD200-D8FC-45DB-8711-6557585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43BFF-9413-4244-81E3-3B8C66AC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조·항·호·목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단위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9D208-84BB-4340-8C16-7C6CC81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시행일·출처 메타데이터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4CB6B-B054-4EB4-8CC6-DD2837BA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C60F5-58FD-4178-A22A-2965109F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Ko-SRoBERTa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임베딩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F5062-4998-4399-9F7A-AA9354D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정규화된 문장 벡터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66F9B-4D4F-458B-A7AA-1343F4D5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B5C40-0216-4B68-B400-FC664C2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12,377건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5ECFF-1E9D-42FB-9039-27AE641F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질문·조항 의미 검색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88F6C-81A6-4A49-B338-E3EC6E2C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FCBF2-055F-43A6-9BE9-605BF200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765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회귀 질문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 출처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833B2-8BA1-474D-AAF1-7299869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86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검색 품질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196A4-DC22-4F13-9F70-D5E93D47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878FD-463F-449F-B3F2-669F5DF5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개정 반영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A4B20-7BB3-48BE-A62B-D31B5D23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339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재수집 → corpus SHA-256 비교 → 변경 시 ChromaDB 재적재</a:t>
            </a:r>
          </a:p>
        </p:txBody>
      </p:sp>
    </p:spTree>
    <p:extLst>
      <p:ext uri="{BB962C8B-B14F-4D97-AF65-F5344CB8AC3E}">
        <p14:creationId xmlns:p14="http://schemas.microsoft.com/office/powerpoint/2010/main" val="1863563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AEBB3-1751-4DF0-A534-F3D72694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0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기능 구현 ③ 결과를 검토·비교·다운로드 가능한 화면으로 구성했다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E3CAC-9816-443A-9D66-9AA112A8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DB9FA-3D53-4239-B89B-80F674D6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08199-1010-4B86-910C-3EE3AD7D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요약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F9736-A9F2-4F2B-9225-BE63CF67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위험 점수·등급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계약서 핵심 요약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959F2-B43B-4B1B-9119-B1E8DB84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B82EB-69A4-4345-BEB9-35B434DC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5C36F-D096-4ADA-85A9-AFDD4D51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9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원문 위치 하이라이트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관련 법령 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32E41-DB40-4078-946D-269C196A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8493A-1A1A-4F84-AF93-C1790DC1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행동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85179-15A4-4469-8DEC-AA9354D8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9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체크리스트·질의응답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대체 문구·PDF 리포트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8290F-AAE1-449D-9B70-F4A1F3F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Hook이 분석 폴링·취소·목록 갱신을 하나의 작업 흐름으로 관리</a:t>
            </a:r>
          </a:p>
        </p:txBody>
      </p:sp>
    </p:spTree>
    <p:extLst>
      <p:ext uri="{BB962C8B-B14F-4D97-AF65-F5344CB8AC3E}">
        <p14:creationId xmlns:p14="http://schemas.microsoft.com/office/powerpoint/2010/main" val="98416988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227D1-2BCB-4A1C-829C-0821172A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단위·회귀 테스트는 도메인 규칙과 실패 경계를 고정한다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EA9EC-5ED5-4F64-9D39-B9FAB761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B6B7-954D-4F49-8EAC-7200C390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Backend / JUnit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86F6C-529F-4BC7-ACB7-5DABE872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AccountService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AccountRecoveryService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OAuthLoginService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ContractService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LegalConsultationService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1CFAA-109A-42F1-AA19-D0D037C7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AI / Pytest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3053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7893A-6890-4710-A003-140C317F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analyzer·agent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risk grades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semantic dataset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law source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PDF/document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B86A8-90A7-48B6-8C86-9A90C3D5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검증 관점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115300" y="2095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E21B3-F6CF-4684-85E4-E60A2483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정상·위험 분류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권한·토큰 만료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상태 전이·취소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출처 일치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폴백 동작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83E44-89E2-41FF-A496-C59C340B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36178-B72E-4DB8-AB8D-4983125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995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65개 AI 테스트 · SAFE/LOW/MEDIUM/HIGH 등급 · 의미 부정문 · 상담 필수 출처를 회귀 데이터로 고정</a:t>
            </a:r>
          </a:p>
        </p:txBody>
      </p:sp>
    </p:spTree>
    <p:extLst>
      <p:ext uri="{BB962C8B-B14F-4D97-AF65-F5344CB8AC3E}">
        <p14:creationId xmlns:p14="http://schemas.microsoft.com/office/powerpoint/2010/main" val="169588420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552C1-C854-404E-9731-985B508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통합 테스트는 사용자 여정과 서비스 간 계약을 검증한다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84D68-8E19-4D08-AFF7-852E2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10C6D-5C30-4741-8056-B83E32F3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영역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3CA5C-1CBF-4C05-9190-B69CE44F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763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E01A7-FC68-4BE4-BA17-80D9E620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핵심 검증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95300" y="1838325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100AC-74BD-4881-B5EA-23D51755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E50AC-DF2C-40C3-A400-4F1E2B0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가입 → 로그인 → JWT 인증 → 내 정보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773A4-0349-4479-A148-E138B31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권한과 세션 흐름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95300" y="274320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88E5E-F858-4B63-B65C-641CE775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6E05A-1885-4409-9FBF-766D8416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PDF 업로드 → 분석 시작 → 상태 폴링 → 결과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DF747-87C7-41A6-96FB-7B497D57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React–Spring–FastAPI 연동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95300" y="3648075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D0B00-183C-4213-BF27-D75475F3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취소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F41C3-4C05-45DB-9C85-39B038C4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623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처리 중 취소 → 결과 저장 차단 → UPLOADED 복귀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63757-709D-4342-8C15-88AFF67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비동기 상태 일관성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95300" y="455295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4CAE9-6812-4BE3-A331-F448D45B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상담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E0EF1-8483-43C8-942F-078CB9DA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질문 → RAG 검색 → 답변·출처 → 이력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B2AFB-5FB2-48F5-9CBF-5EC411E7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주제·근거 일치</a:t>
            </a:r>
          </a:p>
        </p:txBody>
      </p:sp>
    </p:spTree>
    <p:extLst>
      <p:ext uri="{BB962C8B-B14F-4D97-AF65-F5344CB8AC3E}">
        <p14:creationId xmlns:p14="http://schemas.microsoft.com/office/powerpoint/2010/main" val="9992759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EE988-C949-4FA9-86F1-C7ACDCF6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8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트러블슈팅 ① 취소 API 500의 원인은 코드가 아닌 기존 DB 제약이었다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7F0FE-ADC3-4A3B-B83B-2B9965CA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4F20F-24C7-4B2B-BB62-8C6587B2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268C0-C491-4422-99E2-3AFF8F67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증상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BB396-45C7-4898-8F6B-712C60FE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취소 요청 HTTP 500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화면은 계속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F0F2E-DF0D-44A4-ABD4-14C0AD6B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D27BE-CFF4-4C4C-A29D-396350A7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원인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0B0D1-4A20-4A72-91D3-8DB986FA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CANCELLED enum 추가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기존 H2 CHECK 제약 미갱신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트랜잭션 롤백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D8AF5-D474-4586-8B19-707B962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5A241-CC28-4E44-8541-338A3BAF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F4B27-7CE9-43D2-BE23-CFD7DAD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05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Future interrupt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결과 저장 차단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상태를 UPLOADED로 복구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139F9-A213-4CD0-9862-6A5B5281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배운 점: enum 변경은 애플리케이션 코드뿐 아니라 기존 스키마 마이그레이션까지 검증해야 한다</a:t>
            </a:r>
          </a:p>
        </p:txBody>
      </p:sp>
    </p:spTree>
    <p:extLst>
      <p:ext uri="{BB962C8B-B14F-4D97-AF65-F5344CB8AC3E}">
        <p14:creationId xmlns:p14="http://schemas.microsoft.com/office/powerpoint/2010/main" val="51576588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11CC3-1334-468E-92E3-053BF55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트러블슈팅 ② 출력·트랜잭션·RAG 품질을 경계에서 해결했다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5161D-46D4-4FA3-9F68-B1A4D76A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AD23B-24CD-45DC-A112-6C4A2EEA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PDF 표 넘침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A25B7-17F3-45E7-A6C8-78863D58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31428-1847-4F1B-9C43-129DB4A4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문자열을 Paragraph로 변환하고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열 폭·간격·섹션 구조를 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D7470-F83A-4424-A618-27DDDF44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OAuth Lazy 로딩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FE7F9-2E3B-45EC-B3B1-E1DC0E3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BC4B1-5D5B-4DF1-BA05-14AE38F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19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JPA Entity 대신 트랜잭션 내부에서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불변 값 객체로 변환해 반환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4F778-363E-47C8-9C54-FD3E6119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상담 주제 오염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C3AA7-A665-4D5A-957A-154EE479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E2654-0AD3-42F3-8B0C-10F29F4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명확한 신규 질문은 과거 문맥을 배제하고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허용 법령 ID·출처 일치를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27D51-8202-4A8E-9686-9CFED0C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EB167-B707-40F9-B597-580791D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공통 원칙: 문제를 UI 증상이 아니라 데이터·트랜잭션·출력 경계에서 재현하고 회귀 테스트로 고정</a:t>
            </a:r>
          </a:p>
        </p:txBody>
      </p:sp>
    </p:spTree>
    <p:extLst>
      <p:ext uri="{BB962C8B-B14F-4D97-AF65-F5344CB8AC3E}">
        <p14:creationId xmlns:p14="http://schemas.microsoft.com/office/powerpoint/2010/main" val="101350430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6AD89-232B-42CD-AE3E-1D9A48C2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소감: 기능 완성보다 ‘신뢰 가능한 경계’를 설계하는 일이 더 중요했다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51FD1-8C58-4F76-9D6A-2720F1BC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066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41C11-1305-4A2F-9636-6AE53139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기술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2190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CF225-09BB-4CD3-A7D2-5D5F341C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React–Spring–FastAPI를 연결하며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계층별 책임과 API 계약을 체감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46409-83CD-4E7F-9FB5-95F2567F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품질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305300" y="2190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97F48-5BB0-4A5E-B6A5-0D4D542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비동기 상태·DB 제약·출처 일치처럼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경계 조건이 사용자 신뢰를 좌우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88272-219B-4553-9099-80D3796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성장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115300" y="21907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4ED26-DAD5-44D1-9D27-FDBF3227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문제 재현 → 원인 분리 → 테스트 고정의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개발 루틴을 프로젝트 전반에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5C5DA-AA5A-4E96-A67A-3350B449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법률 AI는 ‘정답을 말하는 기능’보다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왜 그렇게 판단했는지 추적 가능한 구조가 핵심이었다.</a:t>
            </a:r>
          </a:p>
        </p:txBody>
      </p:sp>
    </p:spTree>
    <p:extLst>
      <p:ext uri="{BB962C8B-B14F-4D97-AF65-F5344CB8AC3E}">
        <p14:creationId xmlns:p14="http://schemas.microsoft.com/office/powerpoint/2010/main" val="3854887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71FF-10A0-419B-9D3B-210D9A76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LAWZIC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903B-AB69-4CC5-9699-4FD25FDC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계약서 검토를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 있는 다음 행동으로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3F5D6-92FF-4A00-834D-AE8D5F7C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규칙 기반 탐지 · 법령 RAG · LLM 검증 · 추적 가능한 리포트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495300" y="519112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6D66-7F13-4577-803C-157FD4E5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1033852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2026-07-30T00:02:58.0880000Z</dcterms:created>
  <dcterms:modified xsi:type="dcterms:W3CDTF">2026-07-30T00:02:58.0880000Z</dcterms:modified>
</coreProperties>
</file>