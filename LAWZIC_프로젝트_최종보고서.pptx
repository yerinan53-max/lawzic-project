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e725ab33894cb6" /><Relationship Type="http://schemas.openxmlformats.org/officeDocument/2006/relationships/extended-properties" Target="/docProps/app.xml" Id="R779eb861991c4032" /><Relationship Type="http://schemas.openxmlformats.org/officeDocument/2006/relationships/officeDocument" Target="/ppt/presentation.xml" Id="R3ca66289355f42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91fe675aaa437c"/>
  </p:sldMasterIdLst>
  <p:notesMasterIdLst>
    <p:notesMasterId xmlns:r="http://schemas.openxmlformats.org/officeDocument/2006/relationships" r:id="Rf0c34c303edb4880"/>
  </p:notesMasterIdLst>
  <p:sldIdLst>
    <p:sldId xmlns:r="http://schemas.openxmlformats.org/officeDocument/2006/relationships" id="256" r:id="Rc0b9e0f8d884495c"/>
    <p:sldId xmlns:r="http://schemas.openxmlformats.org/officeDocument/2006/relationships" id="257" r:id="R682518c23d7c4bf0"/>
    <p:sldId xmlns:r="http://schemas.openxmlformats.org/officeDocument/2006/relationships" id="258" r:id="R81481648e8354a44"/>
    <p:sldId xmlns:r="http://schemas.openxmlformats.org/officeDocument/2006/relationships" id="259" r:id="R1d358e23d39d4ad8"/>
    <p:sldId xmlns:r="http://schemas.openxmlformats.org/officeDocument/2006/relationships" id="260" r:id="R412556def6a444ce"/>
    <p:sldId xmlns:r="http://schemas.openxmlformats.org/officeDocument/2006/relationships" id="261" r:id="Re248cf9e9233404b"/>
    <p:sldId xmlns:r="http://schemas.openxmlformats.org/officeDocument/2006/relationships" id="262" r:id="R56944e43ea134d12"/>
    <p:sldId xmlns:r="http://schemas.openxmlformats.org/officeDocument/2006/relationships" id="263" r:id="R8ff8785fe48e4cb6"/>
    <p:sldId xmlns:r="http://schemas.openxmlformats.org/officeDocument/2006/relationships" id="264" r:id="Rbfe3d2dc21c44691"/>
    <p:sldId xmlns:r="http://schemas.openxmlformats.org/officeDocument/2006/relationships" id="265" r:id="R9d4ba129f7cd45bc"/>
    <p:sldId xmlns:r="http://schemas.openxmlformats.org/officeDocument/2006/relationships" id="266" r:id="Rc1a5286ed18d416f"/>
    <p:sldId xmlns:r="http://schemas.openxmlformats.org/officeDocument/2006/relationships" id="267" r:id="R2e6f71ab26b44095"/>
    <p:sldId xmlns:r="http://schemas.openxmlformats.org/officeDocument/2006/relationships" id="268" r:id="R2eed410a90aa46f0"/>
    <p:sldId xmlns:r="http://schemas.openxmlformats.org/officeDocument/2006/relationships" id="269" r:id="R76267b158e634b54"/>
    <p:sldId xmlns:r="http://schemas.openxmlformats.org/officeDocument/2006/relationships" id="270" r:id="Rc92fee333ecc45c7"/>
    <p:sldId xmlns:r="http://schemas.openxmlformats.org/officeDocument/2006/relationships" id="271" r:id="R7e9c66eaa3004dad"/>
    <p:sldId xmlns:r="http://schemas.openxmlformats.org/officeDocument/2006/relationships" id="272" r:id="Rdd74c935ebf24817"/>
    <p:sldId xmlns:r="http://schemas.openxmlformats.org/officeDocument/2006/relationships" id="273" r:id="Rd3e1d0c93b084bec"/>
    <p:sldId xmlns:r="http://schemas.openxmlformats.org/officeDocument/2006/relationships" id="274" r:id="Rcacf1254c25c4efe"/>
    <p:sldId xmlns:r="http://schemas.openxmlformats.org/officeDocument/2006/relationships" id="275" r:id="R8c0eb964e60e42d0"/>
    <p:sldId xmlns:r="http://schemas.openxmlformats.org/officeDocument/2006/relationships" id="276" r:id="R0963864b80364046"/>
    <p:sldId xmlns:r="http://schemas.openxmlformats.org/officeDocument/2006/relationships" id="277" r:id="R82c12d781de749a5"/>
    <p:sldId xmlns:r="http://schemas.openxmlformats.org/officeDocument/2006/relationships" id="278" r:id="R7a2b022e27fc4d73"/>
    <p:sldId xmlns:r="http://schemas.openxmlformats.org/officeDocument/2006/relationships" id="279" r:id="R6d0cbe6a100f474b"/>
    <p:sldId xmlns:r="http://schemas.openxmlformats.org/officeDocument/2006/relationships" id="280" r:id="R7b5cff4183b04764"/>
    <p:sldId xmlns:r="http://schemas.openxmlformats.org/officeDocument/2006/relationships" id="281" r:id="Rf97adbbdd3924ae6"/>
    <p:sldId xmlns:r="http://schemas.openxmlformats.org/officeDocument/2006/relationships" id="282" r:id="R53d08b81c111468f"/>
    <p:sldId xmlns:r="http://schemas.openxmlformats.org/officeDocument/2006/relationships" id="283" r:id="R7d7678ef6406424b"/>
    <p:sldId xmlns:r="http://schemas.openxmlformats.org/officeDocument/2006/relationships" id="284" r:id="R03d79dca82d1452d"/>
    <p:sldId xmlns:r="http://schemas.openxmlformats.org/officeDocument/2006/relationships" id="285" r:id="R9184747244364a90"/>
    <p:sldId xmlns:r="http://schemas.openxmlformats.org/officeDocument/2006/relationships" id="286" r:id="Rd61f5d2829574463"/>
    <p:sldId xmlns:r="http://schemas.openxmlformats.org/officeDocument/2006/relationships" id="287" r:id="Re29ddf2304fd4048"/>
    <p:sldId xmlns:r="http://schemas.openxmlformats.org/officeDocument/2006/relationships" id="288" r:id="R1a70dbcf38ee4727"/>
    <p:sldId xmlns:r="http://schemas.openxmlformats.org/officeDocument/2006/relationships" id="289" r:id="R2b70dfbd517440ae"/>
    <p:sldId xmlns:r="http://schemas.openxmlformats.org/officeDocument/2006/relationships" id="290" r:id="Ra697a023adcf44e8"/>
    <p:sldId xmlns:r="http://schemas.openxmlformats.org/officeDocument/2006/relationships" id="291" r:id="R6139fce6bfe04ea7"/>
    <p:sldId xmlns:r="http://schemas.openxmlformats.org/officeDocument/2006/relationships" id="292" r:id="R1f18d38145cb4c0a"/>
    <p:sldId xmlns:r="http://schemas.openxmlformats.org/officeDocument/2006/relationships" id="293" r:id="R25e782d2261c48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323040acb7422b" /><Relationship Type="http://schemas.openxmlformats.org/officeDocument/2006/relationships/slideMaster" Target="/ppt/slideMasters/slideMaster1.xml" Id="Rc291fe675aaa437c" /><Relationship Type="http://schemas.openxmlformats.org/officeDocument/2006/relationships/notesMaster" Target="/ppt/notesMasters/notesMaster1.xml" Id="Rf0c34c303edb4880" /><Relationship Type="http://schemas.openxmlformats.org/officeDocument/2006/relationships/presProps" Target="/ppt/presProps.xml" Id="R4c5d3a7a41ba4334" /><Relationship Type="http://schemas.openxmlformats.org/officeDocument/2006/relationships/tableStyles" Target="/ppt/tableStyles.xml" Id="Rc46034785d394683" /><Relationship Type="http://schemas.openxmlformats.org/officeDocument/2006/relationships/slide" Target="/ppt/slides/slide1.xml" Id="Rc0b9e0f8d884495c" /><Relationship Type="http://schemas.openxmlformats.org/officeDocument/2006/relationships/slide" Target="/ppt/slides/slide2.xml" Id="R682518c23d7c4bf0" /><Relationship Type="http://schemas.openxmlformats.org/officeDocument/2006/relationships/slide" Target="/ppt/slides/slide3.xml" Id="R81481648e8354a44" /><Relationship Type="http://schemas.openxmlformats.org/officeDocument/2006/relationships/slide" Target="/ppt/slides/slide4.xml" Id="R1d358e23d39d4ad8" /><Relationship Type="http://schemas.openxmlformats.org/officeDocument/2006/relationships/slide" Target="/ppt/slides/slide5.xml" Id="R412556def6a444ce" /><Relationship Type="http://schemas.openxmlformats.org/officeDocument/2006/relationships/slide" Target="/ppt/slides/slide6.xml" Id="Re248cf9e9233404b" /><Relationship Type="http://schemas.openxmlformats.org/officeDocument/2006/relationships/slide" Target="/ppt/slides/slide7.xml" Id="R56944e43ea134d12" /><Relationship Type="http://schemas.openxmlformats.org/officeDocument/2006/relationships/slide" Target="/ppt/slides/slide8.xml" Id="R8ff8785fe48e4cb6" /><Relationship Type="http://schemas.openxmlformats.org/officeDocument/2006/relationships/slide" Target="/ppt/slides/slide9.xml" Id="Rbfe3d2dc21c44691" /><Relationship Type="http://schemas.openxmlformats.org/officeDocument/2006/relationships/slide" Target="/ppt/slides/slide10.xml" Id="R9d4ba129f7cd45bc" /><Relationship Type="http://schemas.openxmlformats.org/officeDocument/2006/relationships/slide" Target="/ppt/slides/slide11.xml" Id="Rc1a5286ed18d416f" /><Relationship Type="http://schemas.openxmlformats.org/officeDocument/2006/relationships/slide" Target="/ppt/slides/slide12.xml" Id="R2e6f71ab26b44095" /><Relationship Type="http://schemas.openxmlformats.org/officeDocument/2006/relationships/slide" Target="/ppt/slides/slide13.xml" Id="R2eed410a90aa46f0" /><Relationship Type="http://schemas.openxmlformats.org/officeDocument/2006/relationships/slide" Target="/ppt/slides/slide14.xml" Id="R76267b158e634b54" /><Relationship Type="http://schemas.openxmlformats.org/officeDocument/2006/relationships/slide" Target="/ppt/slides/slide15.xml" Id="Rc92fee333ecc45c7" /><Relationship Type="http://schemas.openxmlformats.org/officeDocument/2006/relationships/slide" Target="/ppt/slides/slide16.xml" Id="R7e9c66eaa3004dad" /><Relationship Type="http://schemas.openxmlformats.org/officeDocument/2006/relationships/slide" Target="/ppt/slides/slide17.xml" Id="Rdd74c935ebf24817" /><Relationship Type="http://schemas.openxmlformats.org/officeDocument/2006/relationships/slide" Target="/ppt/slides/slide18.xml" Id="Rd3e1d0c93b084bec" /><Relationship Type="http://schemas.openxmlformats.org/officeDocument/2006/relationships/slide" Target="/ppt/slides/slide19.xml" Id="Rcacf1254c25c4efe" /><Relationship Type="http://schemas.openxmlformats.org/officeDocument/2006/relationships/slide" Target="/ppt/slides/slide20.xml" Id="R8c0eb964e60e42d0" /><Relationship Type="http://schemas.openxmlformats.org/officeDocument/2006/relationships/slide" Target="/ppt/slides/slide21.xml" Id="R0963864b80364046" /><Relationship Type="http://schemas.openxmlformats.org/officeDocument/2006/relationships/slide" Target="/ppt/slides/slide22.xml" Id="R82c12d781de749a5" /><Relationship Type="http://schemas.openxmlformats.org/officeDocument/2006/relationships/slide" Target="/ppt/slides/slide23.xml" Id="R7a2b022e27fc4d73" /><Relationship Type="http://schemas.openxmlformats.org/officeDocument/2006/relationships/slide" Target="/ppt/slides/slide24.xml" Id="R6d0cbe6a100f474b" /><Relationship Type="http://schemas.openxmlformats.org/officeDocument/2006/relationships/slide" Target="/ppt/slides/slide25.xml" Id="R7b5cff4183b04764" /><Relationship Type="http://schemas.openxmlformats.org/officeDocument/2006/relationships/slide" Target="/ppt/slides/slide26.xml" Id="Rf97adbbdd3924ae6" /><Relationship Type="http://schemas.openxmlformats.org/officeDocument/2006/relationships/slide" Target="/ppt/slides/slide27.xml" Id="R53d08b81c111468f" /><Relationship Type="http://schemas.openxmlformats.org/officeDocument/2006/relationships/slide" Target="/ppt/slides/slide28.xml" Id="R7d7678ef6406424b" /><Relationship Type="http://schemas.openxmlformats.org/officeDocument/2006/relationships/slide" Target="/ppt/slides/slide29.xml" Id="R03d79dca82d1452d" /><Relationship Type="http://schemas.openxmlformats.org/officeDocument/2006/relationships/slide" Target="/ppt/slides/slide30.xml" Id="R9184747244364a90" /><Relationship Type="http://schemas.openxmlformats.org/officeDocument/2006/relationships/slide" Target="/ppt/slides/slide31.xml" Id="Rd61f5d2829574463" /><Relationship Type="http://schemas.openxmlformats.org/officeDocument/2006/relationships/slide" Target="/ppt/slides/slide32.xml" Id="Re29ddf2304fd4048" /><Relationship Type="http://schemas.openxmlformats.org/officeDocument/2006/relationships/slide" Target="/ppt/slides/slide33.xml" Id="R1a70dbcf38ee4727" /><Relationship Type="http://schemas.openxmlformats.org/officeDocument/2006/relationships/slide" Target="/ppt/slides/slide34.xml" Id="R2b70dfbd517440ae" /><Relationship Type="http://schemas.openxmlformats.org/officeDocument/2006/relationships/slide" Target="/ppt/slides/slide35.xml" Id="Ra697a023adcf44e8" /><Relationship Type="http://schemas.openxmlformats.org/officeDocument/2006/relationships/slide" Target="/ppt/slides/slide36.xml" Id="R6139fce6bfe04ea7" /><Relationship Type="http://schemas.openxmlformats.org/officeDocument/2006/relationships/slide" Target="/ppt/slides/slide37.xml" Id="R1f18d38145cb4c0a" /><Relationship Type="http://schemas.openxmlformats.org/officeDocument/2006/relationships/slide" Target="/ppt/slides/slide38.xml" Id="R25e782d2261c48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822cb3dd3740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c1ed18d7ee402a" /><Relationship Type="http://schemas.openxmlformats.org/officeDocument/2006/relationships/notesMaster" Target="/ppt/notesMasters/notesMaster1.xml" Id="R6187a537322f47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9384ac3bce4faa" /><Relationship Type="http://schemas.openxmlformats.org/officeDocument/2006/relationships/notesMaster" Target="/ppt/notesMasters/notesMaster1.xml" Id="R4012f835348f4b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cf84af002b4638" /><Relationship Type="http://schemas.openxmlformats.org/officeDocument/2006/relationships/notesMaster" Target="/ppt/notesMasters/notesMaster1.xml" Id="R19a4129404b448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8724c64f1249d4" /><Relationship Type="http://schemas.openxmlformats.org/officeDocument/2006/relationships/notesMaster" Target="/ppt/notesMasters/notesMaster1.xml" Id="R2273a173d8e841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60eabfaa354a16" /><Relationship Type="http://schemas.openxmlformats.org/officeDocument/2006/relationships/notesMaster" Target="/ppt/notesMasters/notesMaster1.xml" Id="Rb1a3b7bb718d48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d57338e8ed41f1" /><Relationship Type="http://schemas.openxmlformats.org/officeDocument/2006/relationships/notesMaster" Target="/ppt/notesMasters/notesMaster1.xml" Id="Re8e9e0c6c28e44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2cf3e7296c4fcf" /><Relationship Type="http://schemas.openxmlformats.org/officeDocument/2006/relationships/notesMaster" Target="/ppt/notesMasters/notesMaster1.xml" Id="Rc7fa2a58fe344f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64ec3f9fd54455" /><Relationship Type="http://schemas.openxmlformats.org/officeDocument/2006/relationships/notesMaster" Target="/ppt/notesMasters/notesMaster1.xml" Id="R6a8131cae47449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c2c789ef5745f3" /><Relationship Type="http://schemas.openxmlformats.org/officeDocument/2006/relationships/notesMaster" Target="/ppt/notesMasters/notesMaster1.xml" Id="R8082eaa72fe943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d39e552e254415" /><Relationship Type="http://schemas.openxmlformats.org/officeDocument/2006/relationships/notesMaster" Target="/ppt/notesMasters/notesMaster1.xml" Id="Ra0314d2089de48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197d0416a546ee" /><Relationship Type="http://schemas.openxmlformats.org/officeDocument/2006/relationships/notesMaster" Target="/ppt/notesMasters/notesMaster1.xml" Id="R490ae17d3f7d41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ab032288cb4527" /><Relationship Type="http://schemas.openxmlformats.org/officeDocument/2006/relationships/notesMaster" Target="/ppt/notesMasters/notesMaster1.xml" Id="R8c1249ea2d8047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202c5c2b13423b" /><Relationship Type="http://schemas.openxmlformats.org/officeDocument/2006/relationships/notesMaster" Target="/ppt/notesMasters/notesMaster1.xml" Id="R5febf62560e644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a06ed8757f4168" /><Relationship Type="http://schemas.openxmlformats.org/officeDocument/2006/relationships/notesMaster" Target="/ppt/notesMasters/notesMaster1.xml" Id="Rb2b1bd2b694741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6ca4e634a8748bb" /><Relationship Type="http://schemas.openxmlformats.org/officeDocument/2006/relationships/notesMaster" Target="/ppt/notesMasters/notesMaster1.xml" Id="Rdaf8df63432145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42d537404e4f18" /><Relationship Type="http://schemas.openxmlformats.org/officeDocument/2006/relationships/notesMaster" Target="/ppt/notesMasters/notesMaster1.xml" Id="R49c6e5bc762643b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c0dd6bc3e844020" /><Relationship Type="http://schemas.openxmlformats.org/officeDocument/2006/relationships/notesMaster" Target="/ppt/notesMasters/notesMaster1.xml" Id="R31288af073144b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1aba9b964d54096" /><Relationship Type="http://schemas.openxmlformats.org/officeDocument/2006/relationships/notesMaster" Target="/ppt/notesMasters/notesMaster1.xml" Id="R730c8bc391124c7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c5bd013ecea4b98" /><Relationship Type="http://schemas.openxmlformats.org/officeDocument/2006/relationships/notesMaster" Target="/ppt/notesMasters/notesMaster1.xml" Id="Rf6dfebabcbde497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cfdf5ba6cf34f13" /><Relationship Type="http://schemas.openxmlformats.org/officeDocument/2006/relationships/notesMaster" Target="/ppt/notesMasters/notesMaster1.xml" Id="R66172dba35844cb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2645f82622e456e" /><Relationship Type="http://schemas.openxmlformats.org/officeDocument/2006/relationships/notesMaster" Target="/ppt/notesMasters/notesMaster1.xml" Id="Rb85503773715494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de7bf55162942aa" /><Relationship Type="http://schemas.openxmlformats.org/officeDocument/2006/relationships/notesMaster" Target="/ppt/notesMasters/notesMaster1.xml" Id="Ree36cf1820714bb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77c5c3f4974036" /><Relationship Type="http://schemas.openxmlformats.org/officeDocument/2006/relationships/notesMaster" Target="/ppt/notesMasters/notesMaster1.xml" Id="R19a9c60025e544c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28e837357d44913" /><Relationship Type="http://schemas.openxmlformats.org/officeDocument/2006/relationships/notesMaster" Target="/ppt/notesMasters/notesMaster1.xml" Id="R7caa1459d84a4fc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556012baf954bc6" /><Relationship Type="http://schemas.openxmlformats.org/officeDocument/2006/relationships/notesMaster" Target="/ppt/notesMasters/notesMaster1.xml" Id="Raf47925c296940d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1377eafef0140cc" /><Relationship Type="http://schemas.openxmlformats.org/officeDocument/2006/relationships/notesMaster" Target="/ppt/notesMasters/notesMaster1.xml" Id="Rdf046bd5e2484e4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049b01ee75e41d9" /><Relationship Type="http://schemas.openxmlformats.org/officeDocument/2006/relationships/notesMaster" Target="/ppt/notesMasters/notesMaster1.xml" Id="Rd12dd52e0e7a436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da3c499dde84689" /><Relationship Type="http://schemas.openxmlformats.org/officeDocument/2006/relationships/notesMaster" Target="/ppt/notesMasters/notesMaster1.xml" Id="R36e714ee0c0b403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3e23c3e269943a8" /><Relationship Type="http://schemas.openxmlformats.org/officeDocument/2006/relationships/notesMaster" Target="/ppt/notesMasters/notesMaster1.xml" Id="R68e132298dcc41e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886095e7d7f4252" /><Relationship Type="http://schemas.openxmlformats.org/officeDocument/2006/relationships/notesMaster" Target="/ppt/notesMasters/notesMaster1.xml" Id="R2c41593d0a3842c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64b78b9d91e48da" /><Relationship Type="http://schemas.openxmlformats.org/officeDocument/2006/relationships/notesMaster" Target="/ppt/notesMasters/notesMaster1.xml" Id="R9cb155c36a5141f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79ca758f5724be3" /><Relationship Type="http://schemas.openxmlformats.org/officeDocument/2006/relationships/notesMaster" Target="/ppt/notesMasters/notesMaster1.xml" Id="R666ef0d1d5ed480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8cc3c37023a4696" /><Relationship Type="http://schemas.openxmlformats.org/officeDocument/2006/relationships/notesMaster" Target="/ppt/notesMasters/notesMaster1.xml" Id="Rb445c95aa630498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47089184fe449c5" /><Relationship Type="http://schemas.openxmlformats.org/officeDocument/2006/relationships/notesMaster" Target="/ppt/notesMasters/notesMaster1.xml" Id="R4657d36bd8fe4fa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5113196eef8488a" /><Relationship Type="http://schemas.openxmlformats.org/officeDocument/2006/relationships/notesMaster" Target="/ppt/notesMasters/notesMaster1.xml" Id="Rb4bac03e51da4ae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cfc8cc6ceda4661" /><Relationship Type="http://schemas.openxmlformats.org/officeDocument/2006/relationships/notesMaster" Target="/ppt/notesMasters/notesMaster1.xml" Id="R899779e9b56a46d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432ef51f90f4050" /><Relationship Type="http://schemas.openxmlformats.org/officeDocument/2006/relationships/notesMaster" Target="/ppt/notesMasters/notesMaster1.xml" Id="R2c39309bf44e41e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1ccd60ec1f14441" /><Relationship Type="http://schemas.openxmlformats.org/officeDocument/2006/relationships/notesMaster" Target="/ppt/notesMasters/notesMaster1.xml" Id="Rf0c83f73916f43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docs/DESIGN.md</a:t>
            </a:r>
          </a:p>
          <a:p xmlns:a="http://schemas.openxmlformats.org/drawingml/2006/main">
            <a:r>
              <a:t>- frontend/src/App.jsx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frontend/src/App.jsx</a:t>
            </a:r>
          </a:p>
          <a:p xmlns:a="http://schemas.openxmlformats.org/drawingml/2006/main">
            <a:r>
              <a:t>- docs/assets/lawzic-menu-structure.png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frontend/package.json</a:t>
            </a:r>
          </a:p>
          <a:p xmlns:a="http://schemas.openxmlformats.org/drawingml/2006/main">
            <a:r>
              <a:t>- backend/pom.xml</a:t>
            </a:r>
          </a:p>
          <a:p xmlns:a="http://schemas.openxmlformats.org/drawingml/2006/main">
            <a:r>
              <a:t>- ai/requirements.txt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backend/src/main/java/com/lawzic/api/user/User.java</a:t>
            </a:r>
          </a:p>
          <a:p xmlns:a="http://schemas.openxmlformats.org/drawingml/2006/main">
            <a:r>
              <a:t>- backend/src/main/java/com/lawzic/api/contract/Contract.java</a:t>
            </a:r>
          </a:p>
          <a:p xmlns:a="http://schemas.openxmlformats.org/drawingml/2006/main">
            <a:r>
              <a:t>- backend/src/main/java/com/lawzic/api/analysis/AnalysisResult.java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backend/src/main/java/com/lawzic/api/auth/AuthController.java</a:t>
            </a:r>
          </a:p>
          <a:p xmlns:a="http://schemas.openxmlformats.org/drawingml/2006/main">
            <a:r>
              <a:t>- backend/src/main/java/com/lawzic/api/contract/ContractController.java</a:t>
            </a:r>
          </a:p>
          <a:p xmlns:a="http://schemas.openxmlformats.org/drawingml/2006/main">
            <a:r>
              <a:t>- backend/src/main/java/com/lawzic/api/analysis/AnalysisController.java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ai/app/agent.py</a:t>
            </a:r>
          </a:p>
          <a:p xmlns:a="http://schemas.openxmlformats.org/drawingml/2006/main">
            <a:r>
              <a:t>- ai/app/analyzer.py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docs/LAW_DATA_PIPELINE.md</a:t>
            </a:r>
          </a:p>
          <a:p xmlns:a="http://schemas.openxmlformats.org/drawingml/2006/main">
            <a:r>
              <a:t>- ai/data/laws/labor_law_manifest.json</a:t>
            </a:r>
          </a:p>
          <a:p xmlns:a="http://schemas.openxmlformats.org/drawingml/2006/main">
            <a:r>
              <a:t>- ai/scripts/sync_laws.py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ai/app/semantic.py</a:t>
            </a:r>
          </a:p>
          <a:p xmlns:a="http://schemas.openxmlformats.org/drawingml/2006/main">
            <a:r>
              <a:t>- ai/app/rag/service.py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ai/app/rag/service.py</a:t>
            </a:r>
          </a:p>
          <a:p xmlns:a="http://schemas.openxmlformats.org/drawingml/2006/main">
            <a:r>
              <a:t>- ai/app/contract_rag.py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ai/app/contract_rag.py</a:t>
            </a:r>
          </a:p>
          <a:p xmlns:a="http://schemas.openxmlformats.org/drawingml/2006/main">
            <a:r>
              <a:t>- ai/app/rag/service.py</a:t>
            </a:r>
          </a:p>
          <a:p xmlns:a="http://schemas.openxmlformats.org/drawingml/2006/main">
            <a:r>
              <a:t>- ai/app/question_agent.py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ai/app/agent.py</a:t>
            </a:r>
          </a:p>
          <a:p xmlns:a="http://schemas.openxmlformats.org/drawingml/2006/main">
            <a:r>
              <a:t>- ai/app/legal_consultation.py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ai/app/agent.py</a:t>
            </a:r>
          </a:p>
          <a:p xmlns:a="http://schemas.openxmlformats.org/drawingml/2006/main">
            <a:r>
              <a:t>- ai/app/legal_consultation.py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frontend/src/pages/LoginPage.jsx</a:t>
            </a:r>
          </a:p>
          <a:p xmlns:a="http://schemas.openxmlformats.org/drawingml/2006/main">
            <a:r>
              <a:t>- frontend/src/pages/SignupPage.jsx</a:t>
            </a:r>
          </a:p>
          <a:p xmlns:a="http://schemas.openxmlformats.org/drawingml/2006/main">
            <a:r>
              <a:t>- backend/src/main/java/com/lawzic/api/auth/AuthController.java</a:t>
            </a:r>
          </a:p>
          <a:p xmlns:a="http://schemas.openxmlformats.org/drawingml/2006/main">
            <a:r>
              <a:t>- backend/src/main/java/com/lawzic/api/config/JwtAuthenticationFilter.java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frontend/src/hooks/useContractWorkspace.js</a:t>
            </a:r>
          </a:p>
          <a:p xmlns:a="http://schemas.openxmlformats.org/drawingml/2006/main">
            <a:r>
              <a:t>- ai/app/agent.py</a:t>
            </a:r>
          </a:p>
          <a:p xmlns:a="http://schemas.openxmlformats.org/drawingml/2006/main">
            <a:r>
              <a:t>- ai/app/analyzer.py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ai/app/question_agent.py</a:t>
            </a:r>
          </a:p>
          <a:p xmlns:a="http://schemas.openxmlformats.org/drawingml/2006/main">
            <a:r>
              <a:t>- ai/app/legal_consultation.py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ai/scripts/sync_laws.py</a:t>
            </a:r>
          </a:p>
          <a:p xmlns:a="http://schemas.openxmlformats.org/drawingml/2006/main">
            <a:r>
              <a:t>- docs/LAW_DATA_PIPELINE.md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docs/TROUBLESHOOTING.md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docs/TROUBLESHOOTING.md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docs/TROUBLESHOOTING.md</a:t>
            </a:r>
          </a:p>
          <a:p xmlns:a="http://schemas.openxmlformats.org/drawingml/2006/main">
            <a:r>
              <a:t>- ai/tests/data/legal_consultation_cases.json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ai/app/contract_rag.py</a:t>
            </a:r>
          </a:p>
          <a:p xmlns:a="http://schemas.openxmlformats.org/drawingml/2006/main">
            <a:r>
              <a:t>- ai/app/agent.py</a:t>
            </a:r>
          </a:p>
          <a:p xmlns:a="http://schemas.openxmlformats.org/drawingml/2006/main">
            <a:r>
              <a:t>- backend/src/main/java/com/lawzic/api/common/GlobalExceptionHandler.java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ai/tests</a:t>
            </a:r>
          </a:p>
          <a:p xmlns:a="http://schemas.openxmlformats.org/drawingml/2006/main">
            <a:r>
              <a:t>- backend/src/test</a:t>
            </a:r>
          </a:p>
          <a:p xmlns:a="http://schemas.openxmlformats.org/drawingml/2006/main">
            <a:r>
              <a:t>- frontend/package.json</a:t>
            </a:r>
          </a:p>
          <a:p xmlns:a="http://schemas.openxmlformats.org/drawingml/2006/main">
            <a:r>
              <a:t>- ai/data/laws/labor_law_manifest.json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docs/LAW_DATA_PIPELINE.md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docs/TROUBLESHOOTING.md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LAWZIC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f5a53158aa47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3948f2d2374462" /><Relationship Type="http://schemas.openxmlformats.org/officeDocument/2006/relationships/slideLayout" Target="/ppt/slideLayouts/slideLayout1.xml" Id="R6c2c29c2b0f44c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2c29c2b0f44c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485ea0b1740ce" /><Relationship Type="http://schemas.openxmlformats.org/officeDocument/2006/relationships/notesSlide" Target="/ppt/notesSlides/notesSlide1.xml" Id="R934827abcd4b43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5c204aa5b41eb" /><Relationship Type="http://schemas.openxmlformats.org/officeDocument/2006/relationships/notesSlide" Target="/ppt/notesSlides/notesSlide2.xml" Id="R2295af96717044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e5d1a289449bb" /><Relationship Type="http://schemas.openxmlformats.org/officeDocument/2006/relationships/notesSlide" Target="/ppt/notesSlides/notesSlide3.xml" Id="Rdb0eeae2f72a4a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96c985108457b" /><Relationship Type="http://schemas.openxmlformats.org/officeDocument/2006/relationships/notesSlide" Target="/ppt/notesSlides/notesSlide4.xml" Id="R43a315f3af824f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ee16cbc624d51" /><Relationship Type="http://schemas.openxmlformats.org/officeDocument/2006/relationships/notesSlide" Target="/ppt/notesSlides/notesSlide5.xml" Id="R925e33d31a3343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8498c5af74d81" /><Relationship Type="http://schemas.openxmlformats.org/officeDocument/2006/relationships/notesSlide" Target="/ppt/notesSlides/notesSlide6.xml" Id="R27c2eecd54b042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51e7934cf478f" /><Relationship Type="http://schemas.openxmlformats.org/officeDocument/2006/relationships/notesSlide" Target="/ppt/notesSlides/notesSlide7.xml" Id="Ref9f35c7bd1141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f48ad116e450d" /><Relationship Type="http://schemas.openxmlformats.org/officeDocument/2006/relationships/notesSlide" Target="/ppt/notesSlides/notesSlide8.xml" Id="Ra894f96b416d41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e8443b80f4f06" /><Relationship Type="http://schemas.openxmlformats.org/officeDocument/2006/relationships/notesSlide" Target="/ppt/notesSlides/notesSlide9.xml" Id="Rdb43aac94b724c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4347e16c046d8" /><Relationship Type="http://schemas.openxmlformats.org/officeDocument/2006/relationships/notesSlide" Target="/ppt/notesSlides/notesSlide10.xml" Id="Re8b7d15c3dee46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dd9679abb4f2a" /><Relationship Type="http://schemas.openxmlformats.org/officeDocument/2006/relationships/notesSlide" Target="/ppt/notesSlides/notesSlide11.xml" Id="Ra45c440ad8d14a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09681d4a14a3f" /><Relationship Type="http://schemas.openxmlformats.org/officeDocument/2006/relationships/notesSlide" Target="/ppt/notesSlides/notesSlide12.xml" Id="Rfb3b7a4a8b474d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fe8b6e56d4bc1" /><Relationship Type="http://schemas.openxmlformats.org/officeDocument/2006/relationships/notesSlide" Target="/ppt/notesSlides/notesSlide13.xml" Id="R657be40a25024e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9b4cc2b3f455b" /><Relationship Type="http://schemas.openxmlformats.org/officeDocument/2006/relationships/notesSlide" Target="/ppt/notesSlides/notesSlide14.xml" Id="R03e05301b8cf4f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bb2367d6741be" /><Relationship Type="http://schemas.openxmlformats.org/officeDocument/2006/relationships/notesSlide" Target="/ppt/notesSlides/notesSlide15.xml" Id="R780c1307f0c44b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24133a7d44292" /><Relationship Type="http://schemas.openxmlformats.org/officeDocument/2006/relationships/notesSlide" Target="/ppt/notesSlides/notesSlide16.xml" Id="R7244108f6a8c41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cd95d813e4bf5" /><Relationship Type="http://schemas.openxmlformats.org/officeDocument/2006/relationships/notesSlide" Target="/ppt/notesSlides/notesSlide17.xml" Id="Rfcc5f6fe367a4c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3dd8c9bce4a71" /><Relationship Type="http://schemas.openxmlformats.org/officeDocument/2006/relationships/notesSlide" Target="/ppt/notesSlides/notesSlide18.xml" Id="R1fb5040935314c8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0774796df4f51" /><Relationship Type="http://schemas.openxmlformats.org/officeDocument/2006/relationships/notesSlide" Target="/ppt/notesSlides/notesSlide19.xml" Id="Rd368c646dabe499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a01a35dd84cff" /><Relationship Type="http://schemas.openxmlformats.org/officeDocument/2006/relationships/notesSlide" Target="/ppt/notesSlides/notesSlide20.xml" Id="Rf1ed856c11ea477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a2ee3774b4c1d" /><Relationship Type="http://schemas.openxmlformats.org/officeDocument/2006/relationships/notesSlide" Target="/ppt/notesSlides/notesSlide21.xml" Id="R5d11ff52b1144bb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23c2b0a944b8d" /><Relationship Type="http://schemas.openxmlformats.org/officeDocument/2006/relationships/notesSlide" Target="/ppt/notesSlides/notesSlide22.xml" Id="R60d974fdc5e04d5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60fbe97d4487f" /><Relationship Type="http://schemas.openxmlformats.org/officeDocument/2006/relationships/notesSlide" Target="/ppt/notesSlides/notesSlide23.xml" Id="R9a0b29bf72d1471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5753e48474577" /><Relationship Type="http://schemas.openxmlformats.org/officeDocument/2006/relationships/notesSlide" Target="/ppt/notesSlides/notesSlide24.xml" Id="R4be249a33ac649b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67d28fcce42bc" /><Relationship Type="http://schemas.openxmlformats.org/officeDocument/2006/relationships/notesSlide" Target="/ppt/notesSlides/notesSlide25.xml" Id="Rcefe046792814b1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30e539d314fd5" /><Relationship Type="http://schemas.openxmlformats.org/officeDocument/2006/relationships/notesSlide" Target="/ppt/notesSlides/notesSlide26.xml" Id="R1ed4e81d63014ca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5702951d54184" /><Relationship Type="http://schemas.openxmlformats.org/officeDocument/2006/relationships/notesSlide" Target="/ppt/notesSlides/notesSlide27.xml" Id="R7c3d2cc7b7f048e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62055c0fb4b17" /><Relationship Type="http://schemas.openxmlformats.org/officeDocument/2006/relationships/notesSlide" Target="/ppt/notesSlides/notesSlide28.xml" Id="R70cb54cda7ef4b0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92a14aa3d46de" /><Relationship Type="http://schemas.openxmlformats.org/officeDocument/2006/relationships/notesSlide" Target="/ppt/notesSlides/notesSlide29.xml" Id="R4eb7a2d665394a4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29aa18bdc417f" /><Relationship Type="http://schemas.openxmlformats.org/officeDocument/2006/relationships/notesSlide" Target="/ppt/notesSlides/notesSlide30.xml" Id="Rb9626f6400eb45e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eadb9edd14d5c" /><Relationship Type="http://schemas.openxmlformats.org/officeDocument/2006/relationships/notesSlide" Target="/ppt/notesSlides/notesSlide31.xml" Id="R0c173efb1ef5420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c0416ceb94419" /><Relationship Type="http://schemas.openxmlformats.org/officeDocument/2006/relationships/notesSlide" Target="/ppt/notesSlides/notesSlide32.xml" Id="Rf718ae1c69e047e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b91663d074757" /><Relationship Type="http://schemas.openxmlformats.org/officeDocument/2006/relationships/notesSlide" Target="/ppt/notesSlides/notesSlide33.xml" Id="R64b174b53f8d4aa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120b0e76b419f" /><Relationship Type="http://schemas.openxmlformats.org/officeDocument/2006/relationships/notesSlide" Target="/ppt/notesSlides/notesSlide34.xml" Id="R8196471246824fb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b7977fb3f4ae1" /><Relationship Type="http://schemas.openxmlformats.org/officeDocument/2006/relationships/notesSlide" Target="/ppt/notesSlides/notesSlide35.xml" Id="Ra396bef0c3a7479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e3e453bf14e08" /><Relationship Type="http://schemas.openxmlformats.org/officeDocument/2006/relationships/notesSlide" Target="/ppt/notesSlides/notesSlide36.xml" Id="R2780a544f8ff4f2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896e0a11d45c3" /><Relationship Type="http://schemas.openxmlformats.org/officeDocument/2006/relationships/notesSlide" Target="/ppt/notesSlides/notesSlide37.xml" Id="R426459806830401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5fdfe18664cec" /><Relationship Type="http://schemas.openxmlformats.org/officeDocument/2006/relationships/notesSlide" Target="/ppt/notesSlides/notesSlide38.xml" Id="Rc95e5e5a725d41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DF987-0C3E-46D1-B1AB-E3F03647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970A1-EC2E-4240-B097-53162B26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LAWZIC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6936D-4BB9-4935-8F7B-F398ACAC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프로젝트 최종보고서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82919-2C29-4097-AF7C-52C54B8B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8C7D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7DB"/>
                </a:solidFill>
                <a:latin typeface="Arial"/>
                <a:ea typeface="Arial"/>
                <a:cs typeface="Arial"/>
              </a:rPr>
              <a:t>Agentic RAG 기반 근로계약서 위험 분석 및 노동법 상담 서비스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590550" y="485775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1769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E7C40-5357-48E8-9CBC-8E1EA4F9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PROJECT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091B6-06DC-42D3-A688-ED0A8819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8C7D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7DB"/>
                </a:solidFill>
                <a:latin typeface="Arial"/>
                <a:ea typeface="Arial"/>
                <a:cs typeface="Arial"/>
              </a:rPr>
              <a:t>React · Spring Boot · FastAPI · LangGraph · ChromaDB</a:t>
            </a:r>
          </a:p>
        </p:txBody>
      </p:sp>
    </p:spTree>
    <p:extLst>
      <p:ext uri="{BB962C8B-B14F-4D97-AF65-F5344CB8AC3E}">
        <p14:creationId xmlns:p14="http://schemas.microsoft.com/office/powerpoint/2010/main" val="1546957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E4A27B-B261-47B1-8986-B117B902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50506-014D-47FE-BECF-110431BD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목차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297D8-7CD9-4B5D-8BD4-B006744A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5DEFA-067D-4B7B-B86D-C25D6873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276350" y="1724025"/>
            <a:ext cx="4333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DAF7A-1C11-4A97-B5B3-EEEBE16F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335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프로젝트 소개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0B618-683E-4FCB-8E3F-5DA723E1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1276350" y="2790825"/>
            <a:ext cx="4333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298B2-D42E-4E15-8FE3-A31AA2E8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003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프로젝트 기획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EA444-2781-41A3-AE33-C51D9BA6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1276350" y="3857625"/>
            <a:ext cx="4333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74BAF-4E25-4F1D-9AAE-3B0C9FA0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671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시스템 설계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6609A-AC38-4305-B546-B581FD3C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20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1276350" y="4924425"/>
            <a:ext cx="4333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3E5DF-65FC-46C7-9ECC-9CCAF361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339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설계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59773-0360-4219-BDFE-5288D744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6896100" y="1724025"/>
            <a:ext cx="4333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4B8BC-EC03-41DE-82FC-844937FF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335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서비스 구현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2D852-98E6-4C92-8CB1-B9C3197C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6896100" y="2790825"/>
            <a:ext cx="4333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B5CC0E-612C-4083-B493-AA085C66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003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문제 해결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E663F0-9206-4D8F-A77B-5DF4E176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052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6896100" y="3857625"/>
            <a:ext cx="4333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5E5104-DA78-4661-B295-71084B7B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671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프로젝트 결과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A26EB9-C15B-4B67-BDCF-D86BDA1C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720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6896100" y="4924425"/>
            <a:ext cx="4333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7CFDF0-3489-46AB-9056-532E3A57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339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마무리</a:t>
            </a:r>
          </a:p>
        </p:txBody>
      </p:sp>
    </p:spTree>
    <p:extLst>
      <p:ext uri="{BB962C8B-B14F-4D97-AF65-F5344CB8AC3E}">
        <p14:creationId xmlns:p14="http://schemas.microsoft.com/office/powerpoint/2010/main" val="953601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69612-6436-4CF6-A0B4-9FEDE608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B65A4-067F-4790-9A0B-D67D0030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95CDF-769D-4DE1-8BE6-6AA0BE8E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1DD8E-2DE6-45F0-9233-86B947B9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프로젝트 소개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590550" y="3476625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769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A9CBF-1F5B-4D6B-91CF-00C6022A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8C7D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7DB"/>
                </a:solidFill>
                <a:latin typeface="Arial"/>
                <a:ea typeface="Arial"/>
                <a:cs typeface="Arial"/>
              </a:rPr>
              <a:t>계약 검토의 문제와 LAWZIC이 해결하려는 목표</a:t>
            </a:r>
          </a:p>
        </p:txBody>
      </p:sp>
    </p:spTree>
    <p:extLst>
      <p:ext uri="{BB962C8B-B14F-4D97-AF65-F5344CB8AC3E}">
        <p14:creationId xmlns:p14="http://schemas.microsoft.com/office/powerpoint/2010/main" val="2521077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9F715-8B2A-494A-A44E-4801BCEB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1. 프로젝트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F77E9-00C6-4D05-8325-E7253502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프로젝트 개요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1E507-7269-468F-B271-29492CB7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AA6F9-A025-42DA-9AE7-E52BA19E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9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LAWZIC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24AE4-E4C9-47DB-8437-4C45EF03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590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근로계약서 PDF를 분석해 위험 조항, 법적 근거, 수정 방향을 한 화면에 연결하는 법률 AI 플랫폼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19773-FAB3-43DE-A48E-D7DFBE92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71625"/>
            <a:ext cx="3810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40F51-AE4C-4144-B33A-C9CB3696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핵심 사용자 가치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31863-2880-4F1E-99FE-E80CB1A7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위험 탐지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F34B4-9DA6-4886-BB6E-87E36E04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95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출처 추적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16787-C05F-429C-8642-AC00513B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행동 제안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7715250" y="43338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769FF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9E3C1-6DDF-4741-9E19-1BC86486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95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7D7EC"/>
                </a:solidFill>
                <a:latin typeface="Arial"/>
                <a:ea typeface="Arial"/>
                <a:cs typeface="Arial"/>
              </a:rPr>
              <a:t>분석 · 질문 · 리포트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29EC6-BC3B-4C37-994B-AA48609C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법률 자문을 대체하지 않고, 검토 우선순위와 추가 확인이 필요한 지점을 제공</a:t>
            </a:r>
          </a:p>
        </p:txBody>
      </p:sp>
    </p:spTree>
    <p:extLst>
      <p:ext uri="{BB962C8B-B14F-4D97-AF65-F5344CB8AC3E}">
        <p14:creationId xmlns:p14="http://schemas.microsoft.com/office/powerpoint/2010/main" val="1802086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ADA2FA-9A6F-47A6-8DC7-D4463CF2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1. 프로젝트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6FCB7-7B2C-41A4-8F67-57EF5CF7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개발 배경과 목적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9B2D3-1380-420F-95CC-3AFA3138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5FC08-EDC1-4C86-BB7C-FEFE21D6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2D20"/>
                </a:solidFill>
                <a:latin typeface="Arial"/>
                <a:ea typeface="Arial"/>
                <a:cs typeface="Arial"/>
              </a:rPr>
              <a:t>문제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95300" y="209550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135A4-85B2-47C7-982B-973D7D17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긴 문서와 어려운 용어</a:t>
            </a:r>
          </a:p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분산된 법령 근거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A7F59-8A1A-49F6-AE7B-D6FCADB2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접근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95750" y="209550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632E8-2BCA-4338-9298-E81A45E8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규칙·RAG·LLM을</a:t>
            </a:r>
          </a:p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서로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B63D4-6A7B-4990-AA3E-FAE536A7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19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목적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7696200" y="209550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D1BF1-22B3-42BD-97F9-BCD6E231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판단 근거가 보이는</a:t>
            </a:r>
          </a:p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계약 검토 경험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3524250" y="29527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7124700" y="29527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77AC6-48BC-4D7B-AEC2-B5E6FA89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10344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3D69A1-9DD8-49B8-80EE-77BAB60A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개발 목적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64E7BD-3A18-47B3-8E01-61D25A66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482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78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비전문가도 원문·판단 이유·법령 출처·안전한 대체 문구를 연결해서 이해하도록 지원</a:t>
            </a:r>
          </a:p>
        </p:txBody>
      </p:sp>
    </p:spTree>
    <p:extLst>
      <p:ext uri="{BB962C8B-B14F-4D97-AF65-F5344CB8AC3E}">
        <p14:creationId xmlns:p14="http://schemas.microsoft.com/office/powerpoint/2010/main" val="7306830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62046-D867-4F3B-BA8C-C7E6DB84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42CA7-DB8C-4D18-BC5C-955B9D8A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E8A56-A6FE-43EB-B296-48C0EE6A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895C2-DC7F-4971-928E-20218690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프로젝트 기획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590550" y="3476625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769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9F865-639F-49DF-A3BF-E5997AF2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8C7D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7DB"/>
                </a:solidFill>
                <a:latin typeface="Arial"/>
                <a:ea typeface="Arial"/>
                <a:cs typeface="Arial"/>
              </a:rPr>
              <a:t>요구사항, 기능 범위, 사용자 여정을 서비스 구조로 구체화</a:t>
            </a:r>
          </a:p>
        </p:txBody>
      </p:sp>
    </p:spTree>
    <p:extLst>
      <p:ext uri="{BB962C8B-B14F-4D97-AF65-F5344CB8AC3E}">
        <p14:creationId xmlns:p14="http://schemas.microsoft.com/office/powerpoint/2010/main" val="21446782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F906F3A-C279-45E1-A431-9C37C37A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2. 프로젝트 기획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C84CE-C1C3-4D6E-A797-7764AEDA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요구사항 정의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0044F-D6A8-4707-9A9E-D892BDF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C8AAA-1A92-4316-9C12-60140AED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952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EEE42-9C4C-4285-9477-872022FD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0E9BF-D8D8-4F53-A988-DD95588F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76375"/>
            <a:ext cx="1428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E26A0-29D8-4917-8A57-5380DB16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6002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영역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FF7A3-6C2A-4228-A9A5-12987B05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476375"/>
            <a:ext cx="6858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B1D7D-B2B7-424E-8212-E43A343F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002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핵심 요구사항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67887-A878-4798-A622-A869EC26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76375"/>
            <a:ext cx="1428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DA580-6308-4EE2-81CD-465A1774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002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우선순위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54D59-2373-4DCF-8086-73B58CC2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952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B1FC2-C2AC-427E-A0F7-0EC5F5C2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76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FR-01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48125-8F3C-40D7-A034-9B698B46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76450"/>
            <a:ext cx="1428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C20F73-30DF-4F55-8DB6-E019C344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71700"/>
            <a:ext cx="123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회원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F2337-E2AA-4122-BF4B-B10284D5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76450"/>
            <a:ext cx="6858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4908A-1904-4F97-BAF9-E022A03E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71700"/>
            <a:ext cx="666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가입·JWT 로그인·Google/Naver OAuth·계정 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E509E4-1240-43CC-812B-8F569765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76450"/>
            <a:ext cx="1428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312FB-1102-49DF-8EBF-C3416135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71700"/>
            <a:ext cx="123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필수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3738DD-D851-4955-956D-3F40BE67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76525"/>
            <a:ext cx="952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83B73-AAD4-4B29-9F44-7819A3F0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76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FR-02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DFE420-E430-43A6-ABBE-37A648A8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76525"/>
            <a:ext cx="1428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69D376-6976-44D8-B218-874D8CB2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71775"/>
            <a:ext cx="123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계약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C78ECE-5950-4F54-82E3-992DC8B7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76525"/>
            <a:ext cx="6858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036C93-5708-4F98-B460-A29BBE17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71775"/>
            <a:ext cx="666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PDF 업로드·조회·삭제·원문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AC0D1C-7B60-4C08-B265-045FDCA8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76525"/>
            <a:ext cx="1428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43383E-9477-47B5-BD6B-27954FD1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71775"/>
            <a:ext cx="123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필수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50AF86-AF0F-4C12-89EB-F2637D60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76600"/>
            <a:ext cx="952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F3F748-0D8A-407C-B751-ED72225D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76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FR-03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9E7032-8F83-4C8C-8D5D-D533D1DA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76600"/>
            <a:ext cx="1428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209A62-033D-4097-B52A-1728CF78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123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분석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AB4A90-109E-4CDA-9AB6-43C515B0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76600"/>
            <a:ext cx="6858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B8DE82-A781-4E5F-AC91-1329262E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71850"/>
            <a:ext cx="666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위험도·체크리스트·하이라이트·대체 문구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4C3226-CE6A-42DB-AC5C-29A4EEE1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76600"/>
            <a:ext cx="1428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2FA261-D2F6-4677-9BDA-E7AC996F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71850"/>
            <a:ext cx="123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필수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109CC1-7871-4B44-BE40-2F2984F4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76675"/>
            <a:ext cx="952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04900D-8C42-4B0D-AF64-0B067BBB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76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FR-04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7A897A-B689-4CE5-9A6D-00B149C5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76675"/>
            <a:ext cx="1428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0537AC-6B7F-4B36-A6E3-0040DDEA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71925"/>
            <a:ext cx="123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질의응답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51A37D-1111-4376-87FF-F52570FF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76675"/>
            <a:ext cx="6858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5644DD-11FD-492B-BA00-2EAA07C8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71925"/>
            <a:ext cx="666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계약 질문과 노동법 상담, 출처 표시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81196D-ABC2-4537-B90D-37CEC413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76675"/>
            <a:ext cx="1428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6CEA80-7CFF-4924-9A20-E2DBC348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71925"/>
            <a:ext cx="123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필수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7EDC2C-C290-4E19-8174-C33688EB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952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593090-1241-4611-ADBE-77E7F2FE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76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FR-05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A55AF3-D24E-45DC-9B8C-34772F0B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0"/>
            <a:ext cx="1428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058A8B-8043-4B11-A20A-21BD0985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72000"/>
            <a:ext cx="123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이력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18F3D8-3D48-45DC-BE26-E194908E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76750"/>
            <a:ext cx="6858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F1BCEE-7CB3-4A09-99BC-6572BAEA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72000"/>
            <a:ext cx="666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분석·상담 이력과 회원정보 관리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EEF5BE-89C5-4AE8-96C8-D6651EC4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76750"/>
            <a:ext cx="1428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B2E73E-E5D4-4188-8F34-53B40C0D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72000"/>
            <a:ext cx="123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필수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92CC51-BB61-428E-9F2E-A9E0E251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76825"/>
            <a:ext cx="952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220ECA-0F8D-430E-8149-DE396E0C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76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NFR-01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B5F669-06E1-4358-BFC7-7CC98D73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76825"/>
            <a:ext cx="1428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2A378E-3B77-4FAC-8118-03B5FB54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72075"/>
            <a:ext cx="123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품질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FF2023-B58E-4E65-AC82-B4C49F32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76825"/>
            <a:ext cx="6858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7C8F915-CC52-481F-A3C5-0A0D680F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72075"/>
            <a:ext cx="666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근거 추적·오류 폴백·회귀 테스트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300B72-12FF-4EA3-918E-DC6A0BEA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76825"/>
            <a:ext cx="1428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05EEAD-C818-470E-ABCF-5635027A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172075"/>
            <a:ext cx="123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필수</a:t>
            </a:r>
          </a:p>
        </p:txBody>
      </p:sp>
    </p:spTree>
    <p:extLst>
      <p:ext uri="{BB962C8B-B14F-4D97-AF65-F5344CB8AC3E}">
        <p14:creationId xmlns:p14="http://schemas.microsoft.com/office/powerpoint/2010/main" val="4383640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C04247-5D1A-4333-A4EA-44E047F8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2. 프로젝트 기획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6F981-8E40-4C76-818B-07B9A186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기능 정의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FE6CE-C401-4E62-A5D0-F8216388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D0307-3950-4473-98A1-9280ADD3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19526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84712-B50B-46CB-929D-E1535D4D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회원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430D1-B650-4FC4-BF1A-1BDE8BF4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1462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일반·소셜 로그인</a:t>
            </a:r>
          </a:p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약관 동의·계정 복구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57972-86FF-40A0-86F2-6FBF8622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716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2647950" y="19526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FFD42-1354-43D9-A51B-E7D9FA03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90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계약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93BD1-DF26-42BF-A80D-D8BA6D31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1462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업로드·드래그앤드롭</a:t>
            </a:r>
          </a:p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취소·재분석·원문 보기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2AD09-80EF-41A9-A224-A03BFEB7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716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800600" y="19526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4FA33-AFFF-4EDC-9B56-CB248C9C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90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분석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E7097-82C1-4503-8781-476BCEA2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1462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위험 등급·체크리스트</a:t>
            </a:r>
          </a:p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하이라이트·대체 문구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4FC91-0ADD-4F45-903D-22D04F2E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6953250" y="19526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13E69-42EC-4481-B4D8-C08C7820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상담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A4BA1-2FD5-4C0E-BDBE-D0EB9A86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계약 Q&amp;A·노동법 상담</a:t>
            </a:r>
          </a:p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사용 법령 출처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7A615-7457-45E5-812D-3D7371B9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716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9105900" y="19526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8C61DF-DAB1-4ACD-8059-2CF990FD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관리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86FC5-909D-4BC1-8D0F-11B28C81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1462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마이페이지·이력</a:t>
            </a:r>
          </a:p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회원정보 수정·탈퇴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DC9848-701F-4C4F-B99A-37CD2544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E7009B-FE0C-422D-9B2A-7AA67315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1017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분석 결과를 ‘판정’에 그치지 않고 원문 확인 → 질문 → 수정 → 리포트까지 연결</a:t>
            </a:r>
          </a:p>
        </p:txBody>
      </p:sp>
    </p:spTree>
    <p:extLst>
      <p:ext uri="{BB962C8B-B14F-4D97-AF65-F5344CB8AC3E}">
        <p14:creationId xmlns:p14="http://schemas.microsoft.com/office/powerpoint/2010/main" val="20337037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2E5EE2-7531-4646-95D1-105D4235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2. 프로젝트 기획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65180-27FB-4E68-8B36-BD607A17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사용자 시나리오와 메뉴 흐름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FD57C-CA1E-4ACA-B007-81CDA541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2095500" y="22383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34155-3B93-4518-956F-81610D0F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BE857-0056-4585-93F1-3054007F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메인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267200" y="22383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D2A5E-C352-4258-85FC-1F2C2A5F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0975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AAD4F-A797-4248-98A1-8B3DEAC5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716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로그인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6438900" y="22383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B543B-1A25-4A12-ABA9-2C8E6667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0975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45E33-291C-451A-BCA8-36D52F6E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716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계약 분석실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4D2FB-338E-4FD8-915A-642ECF24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860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PDF 업로드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8610600" y="22383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FFEDB-250D-49CD-8761-F54B3A40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0975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FE978-4690-4B1E-B6C8-2EDA7F03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분석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97636-B0E4-45B7-9F2A-51C8C457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위험·출처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F3CAF-7315-4963-BF37-34810C8B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3F803B-495E-479F-B90E-6EA5CADB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716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마이페이지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5648325" y="271462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DD92F3-4A1F-4E35-8A7F-899A8608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76625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A1AE88-D30D-4E81-B827-15CE047C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38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노동법 상담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F75DC9-0BC7-44CC-8086-BF56F28C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528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7D7E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7EC"/>
                </a:solidFill>
                <a:latin typeface="Arial"/>
                <a:ea typeface="Arial"/>
                <a:cs typeface="Arial"/>
              </a:rPr>
              <a:t>RAG 기반 Q&amp;A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9744075" y="271462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F7CD5B-42CF-48CC-ABF1-0A527A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76625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87346E-2CDD-4C72-8255-9402EEF6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38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분석·상담 이력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5E5536-8EE1-4E98-9D99-B841A0E0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528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재확인·삭제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B60324-8E5A-4917-BB60-D1701D3F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대표 시나리오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1552C6-FA28-40D1-A5F5-7AB3A48C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57775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회원가입 → 계약서 업로드 → AI 분석 → PDF 근거 확인 → 계약 질문 → 리포트 저장</a:t>
            </a:r>
          </a:p>
        </p:txBody>
      </p:sp>
    </p:spTree>
    <p:extLst>
      <p:ext uri="{BB962C8B-B14F-4D97-AF65-F5344CB8AC3E}">
        <p14:creationId xmlns:p14="http://schemas.microsoft.com/office/powerpoint/2010/main" val="18106324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42062-6305-48AD-A260-4C90EDBB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7FF25-43D4-41F4-B510-5787E5AB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30102-4A68-4D92-8168-D4CF2497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9DCA7-D01C-4890-8C6C-924B7FEB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시스템 설계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590550" y="3476625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769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42C04-E3DC-4F96-8AEB-443C8114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8C7D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7DB"/>
                </a:solidFill>
                <a:latin typeface="Arial"/>
                <a:ea typeface="Arial"/>
                <a:cs typeface="Arial"/>
              </a:rPr>
              <a:t>프론트·백엔드·AI 서버와 데이터 계층의 책임 분리</a:t>
            </a:r>
          </a:p>
        </p:txBody>
      </p:sp>
    </p:spTree>
    <p:extLst>
      <p:ext uri="{BB962C8B-B14F-4D97-AF65-F5344CB8AC3E}">
        <p14:creationId xmlns:p14="http://schemas.microsoft.com/office/powerpoint/2010/main" val="5976776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B00E06-9DC2-4899-8C91-286E1C33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3. 시스템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FE931-6DF8-4AD9-B20C-6A98621C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시스템 아키텍처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029A8-4C88-4269-8B21-45B59EB9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2400300" y="276225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5924550" y="276225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9448800" y="27622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3B1D3-9C1C-4F88-987E-4F3CE462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905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EFF64-345D-4CC0-B6E8-95EC22AE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React / 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7330C-5BEA-4846-A17E-B946F437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UI·라우팅·상태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BD8E8-8C89-4332-B402-2BFEBEC7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3837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52172-A8BD-48DB-9D3C-50B5C7B0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003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Spring Boot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4AB76-51C7-4D31-A988-61B7A10A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14625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인증·권한·DB·파일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4D825-F815-44F0-BAD3-50A40162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3837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AF413-C6B7-41FE-A6ED-C9F6171E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003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9C738-0C87-4B92-BAB8-4488B8BF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14625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PDF·규칙·RAG·LangGraph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303BA-752C-484B-984D-8BC0AF1D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238375"/>
            <a:ext cx="1238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EBE9F-8E00-4735-BAC5-471B67E8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003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A5C04-B1C5-4BF2-8110-43484AF6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146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7D7E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7EC"/>
                </a:solidFill>
                <a:latin typeface="Arial"/>
                <a:ea typeface="Arial"/>
                <a:cs typeface="Arial"/>
              </a:rPr>
              <a:t>Gemma2:2b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4781550" y="328612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8E5"/>
            </a:solidFill>
            <a:prstDash val="solid"/>
          </a:ln>
        </p:spPr>
      </p:cxnSp>
      <p:cxnSp>
        <p:nvCxnSpPr>
          <p:cNvPr id="50" name=""/>
          <p:cNvCxnSpPr/>
          <p:nvPr/>
        </p:nvCxnSpPr>
        <p:spPr>
          <a:xfrm xmlns:a="http://schemas.openxmlformats.org/drawingml/2006/main">
            <a:off x="8305800" y="328612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8E5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8261F3-D98C-45EE-9E78-980184C2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38625"/>
            <a:ext cx="1905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8E669D-FC3B-4A3F-8FF4-7F837220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005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MariaDB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C509AD-0848-4BF0-8EDC-6CB8D3D6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71487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회원·계약·이력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265AD9-1FC8-4A80-B699-A649B745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38625"/>
            <a:ext cx="1905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D6C517-B14B-444A-AA48-31FE436F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005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ChromaDB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2A1E53-0864-4C3E-9CBE-B6EBBB69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1487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법령·계약 벡터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8C30AE-6CD0-40B9-8196-1E368139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38FE12-6E7D-4010-983D-F5F5A3AA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브라우저는 FastAPI를 직접 호출하지 않고 Spring Boot를 단일 진입점으로 사용</a:t>
            </a:r>
          </a:p>
        </p:txBody>
      </p:sp>
    </p:spTree>
    <p:extLst>
      <p:ext uri="{BB962C8B-B14F-4D97-AF65-F5344CB8AC3E}">
        <p14:creationId xmlns:p14="http://schemas.microsoft.com/office/powerpoint/2010/main" val="13057305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E56AF0-04E2-4225-A60E-12311FBC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3. 시스템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92403-C612-4D0A-921D-6EA45264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기술 스택과 개발 환경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C9894-29B7-498F-AD08-E48C6DDF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956D2-D5FD-492B-9463-E9B874F1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20002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0B1AE-29CD-477C-9F6F-7B7C835B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React · Vite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React Router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F72BD-B51A-4424-AF58-5A0170B8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716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2647950" y="20002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2CC5E-A74A-4ED5-B8AF-2DD35EF7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669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Java 17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Spring Boot 3.3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Security · JPA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6A380-6144-451A-95F7-CF41CF55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716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800600" y="20002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8FEA0-AB08-4096-B8AC-13ACB019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669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FastAPI · LangGraph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PyMuPDF · Ollama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33458-CCC8-48BB-B282-D58C1340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6953250" y="20002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E7935-702E-4B33-86E2-A7C03D90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MariaDB · ChromaDB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Ko-SRoBERTa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68FBA9-B63C-4D63-8A50-9959038F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716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9105900" y="20002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D0B83-E474-4195-A5F5-D509F6BA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669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JUnit · Pytest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Vite build · GitHub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6D552-03EE-47D5-A726-A13D62F1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33875"/>
            <a:ext cx="1066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853F4A-7DE8-4ABC-A1DD-AC171CD2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로컬 포트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8343EB-99CE-4FA3-B5E6-E1205CCE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243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5173  React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CA9EA-A3D1-4A67-8A88-C4EA931A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24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8080  Spring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04FA26-09C9-43D6-A109-9ADAC2E7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243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8000  FastAPI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8D76C8-069C-4BEE-BD03-6CEE5DB3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11434  Ollama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EEF701-2530-47A0-8A8E-AF694D66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9587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비밀값은 .env 및 운영 환경변수로 분리</a:t>
            </a:r>
          </a:p>
        </p:txBody>
      </p:sp>
    </p:spTree>
    <p:extLst>
      <p:ext uri="{BB962C8B-B14F-4D97-AF65-F5344CB8AC3E}">
        <p14:creationId xmlns:p14="http://schemas.microsoft.com/office/powerpoint/2010/main" val="2462176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647E0F-B8F9-4FE0-91E9-71C25B4C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3. 시스템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50451-DE7C-4CF9-B488-7DD9E52C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DB 설계와 ERD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D8BF2-7518-4345-A36B-01C476EC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8BDB8-A3C5-4B42-9ED8-1A63BA3A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2286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AE1E1-C15C-4505-84A5-F30B8901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906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1FDEB-772D-418B-B8AB-4648906D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050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회원·동의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5905500" y="223837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8E5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1524000" y="3000375"/>
            <a:ext cx="876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0D8E5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1524000" y="30003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8E5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04781-3BE3-41A3-B517-B82285F0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905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5DD4A-7ED6-42AF-A146-76D40422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contracts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16C00-00F9-4B7F-A21D-08F487D6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PDF·상태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3905250" y="3000375"/>
            <a:ext cx="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8E5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21597-B4BB-4E80-AAC5-2B47CEAD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76750"/>
            <a:ext cx="1905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35FB9-EA53-4190-9180-D16D050E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3867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analysis_results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549F5-E964-470A-B70A-40FB0DAF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530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분석 JSON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7524750" y="3000375"/>
            <a:ext cx="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8E5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66F58-C4B2-4216-9146-355C408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1905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0F482-912B-4CB9-9FD7-3169DDF3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3867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64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legal_consultation_history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3B576-B749-4CAD-A199-A342B64C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상담 이력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0191750" y="30003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8E5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CAB03-D31F-4F2B-A407-AD8578A2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1905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6EA349-19EC-421B-835C-1BE7EECB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0517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social_identities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A124A5-543F-4013-8CDC-E59FB796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195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OAuth 계정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1C393C-FFB7-470A-9674-EFC9C8A8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43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31121F-727E-4CE5-8A19-5CC09A9E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338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1:1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3F8071-0C06-446E-97C3-28AB2EF4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981BD1-DD63-43A5-AA83-CB0E7C5B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43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2ECCED-5E98-43E5-85BB-DF599E5E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보조 테이블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2BE6C3-4F7C-435F-8664-96CDDDB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769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password_reset_tokens · oauth_login_tickets · contract_question_history</a:t>
            </a:r>
          </a:p>
        </p:txBody>
      </p:sp>
    </p:spTree>
    <p:extLst>
      <p:ext uri="{BB962C8B-B14F-4D97-AF65-F5344CB8AC3E}">
        <p14:creationId xmlns:p14="http://schemas.microsoft.com/office/powerpoint/2010/main" val="20644417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422975-001D-432F-A8F5-8E0BC10C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3. 시스템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AE590-7D14-4973-9E6B-8E69310D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API 설계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98199-4CAB-4559-82A5-D10D679B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96F16-D2D5-4930-9208-0F5555A5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52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9020D-5A0B-41F6-B71B-13D22AF6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B2B60-BDC1-47BF-AD8F-6E963337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38112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7BA0B-43CF-47D1-B9B1-8BDC8D46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049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2A166-E151-4085-8EDB-0EF5979E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81125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CD55C-7053-42E8-B126-887B841B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049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기능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213EC-E3BD-412E-8DF2-9A2C7CFD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152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1A4A7-A850-4D47-8B81-26E307A1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70291-3C97-4EB4-BD3A-F3BD94CD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95262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F2D06-7168-45F4-AEFE-7B6B6854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478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/api/auth/signup · /login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6540FC-CC7E-4DD5-84B9-F1614F2F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52625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1BF28-A715-4D6E-A52C-D5ECBA88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4787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회원가입·JWT 인증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167F28-BCA4-4440-9244-883939D0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24125"/>
            <a:ext cx="152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73098E-A953-4B05-A6B3-2B70056C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GET/PATCH/DELETE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E246E-3190-4B28-931E-4B773DD3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52412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04142-AD5F-4880-9789-CAC150F2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19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/api/auth/me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8E6B3A-8D0F-4E7D-991E-AB522C61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48A594-0CCC-47C8-882F-97E66AF5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1937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마이페이지 조회·수정·탈퇴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228A3F-EF60-471E-9B84-5803BDB5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95625"/>
            <a:ext cx="152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80A896-4F14-4CD7-B27F-7F63A441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POST/GET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17C056-120B-4795-8FFA-F06652BC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9562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081FF3-7BFE-45C3-B052-B8F41A4D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908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/api/contracts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22EEC3-5E97-4083-B4B1-34D2A129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95625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3F5D51-90BF-41D8-A616-90ADC5C4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9087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PDF 업로드·목록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0D3AF8-428D-45D3-81F4-9E81EA52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67125"/>
            <a:ext cx="152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4116BD-D64F-43F5-902F-7EC9B782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BA1932-A604-40DC-869C-D0588963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6712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9BB9CB-A0D3-4416-B16B-D68798EA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62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/api/contracts/{id}/analysis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EFC42E-4B6C-435E-A7D1-FAEA48D1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67125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718399-7842-449E-8500-63957894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6237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분석 시작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D7C2F1-0F6B-4824-B61E-D2A84CD6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38625"/>
            <a:ext cx="152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6316C4-AFB9-4BA6-8411-66CE55ED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49F40D-D8CB-48EE-9956-A6CE0DE2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3862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EF377D-79DD-4E93-8407-D10F2065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338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.../analysis/cancel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31393D-101F-44F2-A06D-4F9EA9B5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38625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D2A795-812F-4D35-9896-3442753F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3387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분석 취소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BA711F-5690-45A5-9BE1-F6356DB8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0125"/>
            <a:ext cx="152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EABE43-8338-4A65-8AA7-C409A629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GET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81B841-3386-41FA-938B-67D2D567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1012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932353-874C-4CD4-9107-17C8F70A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05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.../analysis · /status · /report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FBC01C-2395-4644-9AFE-544BD2C2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10125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DE91F7-03A9-4CB6-9C86-F43876DA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0537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결과·상태·PDF 리포트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193BE0-3717-449E-B2A9-1B848476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52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0CA15A-F3EC-46DF-B6FE-A0F32709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POST/GET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0FC315-1EFB-4D0E-8204-88187345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8162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5F8478-88EE-42AD-9192-F420FC0A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768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.../questions · /api/legal-consultation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490AF6-3F0F-4514-BA2D-51BDAB58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81625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03F24D-67AB-45CC-B34A-1404E286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7687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계약 Q&amp;A·노동법 상담</a:t>
            </a:r>
          </a:p>
        </p:txBody>
      </p:sp>
    </p:spTree>
    <p:extLst>
      <p:ext uri="{BB962C8B-B14F-4D97-AF65-F5344CB8AC3E}">
        <p14:creationId xmlns:p14="http://schemas.microsoft.com/office/powerpoint/2010/main" val="18524821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7AA91-B296-48A2-A623-85057E23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78889-A4CC-446A-82B5-2A20F486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9E032-7ECE-43FE-B257-2C6469A4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6A198-5664-4988-839A-E288730C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설계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590550" y="3476625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769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B5EED-FAFC-437A-A5F2-35C38D36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8C7D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7DB"/>
                </a:solidFill>
                <a:latin typeface="Arial"/>
                <a:ea typeface="Arial"/>
                <a:cs typeface="Arial"/>
              </a:rPr>
              <a:t>공식 법령 데이터와 이중 RAG를 LangGraph 검증 흐름으로 결합</a:t>
            </a:r>
          </a:p>
        </p:txBody>
      </p:sp>
    </p:spTree>
    <p:extLst>
      <p:ext uri="{BB962C8B-B14F-4D97-AF65-F5344CB8AC3E}">
        <p14:creationId xmlns:p14="http://schemas.microsoft.com/office/powerpoint/2010/main" val="5282695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70D6D3-D5B6-4EF3-9993-55C98842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4. AI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194F8-4178-4FEB-B4E8-C62DC74C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적용 목적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CBE13-3938-4FA8-8B70-034B3197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0CF97-23C6-4F03-A015-91276215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95300" y="19526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05C5E-A753-4621-BBA5-BC479AAE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추출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1082B-2C6F-45BD-AC17-93DC9319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PDF 원문·페이지 좌표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F2B75-124E-4A7F-ACCC-4939D9F4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71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2647950" y="19526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DC12A-D52D-4003-9E6C-0779F86B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907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탐지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07EA2-2970-4FAF-96F1-C997C53D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67000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위험 의미 구조·체크리스트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81341-4F97-487F-8C73-1236E750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71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800600" y="19526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D7458-FAB7-42A2-8898-727F3AFE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907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검색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DEA76-CC1F-4245-9326-B6816144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67000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관련 노동법 조문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27507-D306-4F81-B30A-DBFEF665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6953250" y="19526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D8D0A-22E1-4EC0-9113-61751B38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생성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AB4D6B-8892-4D57-9DBA-20575D6E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판단 이유·수정 방향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2D026-B8B6-4924-A721-793A9835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71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9105900" y="19526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47C5E5-0F02-45E8-B9A9-8D701870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AF4850-02C8-4CBA-96BD-663B0798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중복·충돌·출처 일치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4B1AB4-D098-4BF8-B6F6-D786299D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38625"/>
            <a:ext cx="10668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4D6524-8EAE-482B-B405-655EA60F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핵심 원칙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B2754E-A196-4264-9544-3FF0D472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10075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1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LLM 단독 판단이 아니라 규칙 기준선 + 법령 검색 + LLM 분석 + 후처리 검증으로 결과를 확정</a:t>
            </a:r>
          </a:p>
        </p:txBody>
      </p:sp>
    </p:spTree>
    <p:extLst>
      <p:ext uri="{BB962C8B-B14F-4D97-AF65-F5344CB8AC3E}">
        <p14:creationId xmlns:p14="http://schemas.microsoft.com/office/powerpoint/2010/main" val="5216300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34ACDB-8FA4-4670-B711-BDA527C8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4. AI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BEFE3-A64D-427E-8E82-9D77432B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데이터 수집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272BB-BD44-4D79-9EA6-FF158A5C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2114550" y="22860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601CF-14B7-449E-8FB2-D700EF4D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13C02-E472-4775-85C9-61BB0186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국가법령정보센터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286250" y="22860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02644-A639-4633-93DC-77B9CAA7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097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C15B1-6FE2-4498-BF14-75D7B19E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716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45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45개 노동관계 법령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9C9F1-90A8-4ED1-BED5-24C20DE1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860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12,377 레코드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6457950" y="22860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78FA3-78DD-406A-85A5-C0B3628F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097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E54B8-2E4B-4137-A1A8-408B93CF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716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8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조·항·호 단위 분리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8629650" y="22860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4A8CD-ED71-4E8C-B3AA-CE99036A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097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3FDDF-BDB1-4189-842B-AB74B166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메타데이터·해시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64CF5-EACC-4EDB-9249-B7783423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D095F-4C2E-46F2-B8C5-4FF8ACCE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716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09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ChromaDB 재적재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79DEC-674E-4256-8439-2D990DF3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1D0CF-5973-4090-AB72-00BB1771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대상 법령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008A9-BC9F-45AB-AAF1-41BB9893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576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12,377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835C2F-0FE5-4A07-9524-3320A19F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053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조·항·호 레코드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7A144-7095-4917-945C-09E119E0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SHA-256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58971D-0037-44FC-BD86-A36F5742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053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corpus 무결성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19D8DD-37A8-4572-8D9A-AB431FF1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576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자동 갱신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1C042B-2BAB-4647-9AE6-80BA49C0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053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재수집·재임베딩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DF839A-3566-4711-B2A5-41D9A484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저장 메타데이터: 법령명 · 조문 경로 · 시행일 · 소관부처 · 출처 URL</a:t>
            </a:r>
          </a:p>
        </p:txBody>
      </p:sp>
    </p:spTree>
    <p:extLst>
      <p:ext uri="{BB962C8B-B14F-4D97-AF65-F5344CB8AC3E}">
        <p14:creationId xmlns:p14="http://schemas.microsoft.com/office/powerpoint/2010/main" val="9371816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95F43-C66E-4C35-87FE-4D6B69EA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4. AI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13842-FE4B-43B4-A861-28851ADB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임베딩 모델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107E0-FAEC-4060-B515-B7AC2483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D6EA8-C2CE-4662-836C-F0A5A566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jhgan/ko-sroberta-multitask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A57A1-6458-4C25-AE86-72ED41E8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한국어 문장 의미 유사도에 맞춘 Sentence-RoBERTa 계열 모델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01AD8-CCFB-4614-971C-C0400779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3619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53C35-F6B6-4EFB-BC7D-98095AD0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57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선정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4EEB4-30AE-4147-97FE-C12A3BAF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33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한국어 법령·질문 의미 검색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618B0-3852-4010-97C4-3292227B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09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로컬 추론과 운영 비용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EC612-60EE-40DC-A076-B8D63517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86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SentenceTransformer 연동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F622C-8FE5-45EC-9AE1-BE9855D7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처리 방식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6222A-B016-4691-A349-A1791E92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290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문장 임베딩 → L2 정규화 → cosine 거리 기반 검색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4A7D8-D9BF-4DD4-BF9F-7B0178B8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9625"/>
            <a:ext cx="10553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AF53F-F058-4920-AC0A-8E995F14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한계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7056B-7DDA-4E17-A905-0092A751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다른 한국어 임베딩 모델과의 정량 비교 실험은 향후 개선 과제로 남음</a:t>
            </a:r>
          </a:p>
        </p:txBody>
      </p:sp>
    </p:spTree>
    <p:extLst>
      <p:ext uri="{BB962C8B-B14F-4D97-AF65-F5344CB8AC3E}">
        <p14:creationId xmlns:p14="http://schemas.microsoft.com/office/powerpoint/2010/main" val="12186682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DFE29-6005-4781-BE56-0C99030C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4. AI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C046B-7D4B-4E8B-92A2-A2001728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Vector DB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E8C18-C7AD-4711-9DAA-AD7F806C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3C3E5-83FB-4F92-B7BE-AFD95926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286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916F6-C747-4DBD-9CE3-2435D74D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71675"/>
            <a:ext cx="401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lawzic_labor_laws_v2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C1423-755A-4204-B5C1-7E3DA372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공식 법령 전역 컬렉션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63224-CCB5-412C-96F2-73C97748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4286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8E3AE-54A1-4E3D-927E-70CABD43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71675"/>
            <a:ext cx="401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lawzic_contract_chunks_v1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02DD2-08A4-4930-8156-6A9839DC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860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contract_id 범위 컬렉션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5048250" y="238125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8E5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FA84D-E754-4942-8896-F73A6FD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법령 RAG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FAD44-CD70-4D05-84D2-288F7E4E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조·항·호·목 단위 레코드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4DBC2-BE1C-4BCB-A7D7-A7C28F49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cosine 유사도 + 키워드 보너스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2E337-CB76-447C-B7C3-77F245F7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시행일·출처 URL 메타데이터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D2DA6-302F-4621-AFCC-753449CA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계약서 RAG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4D070D-405A-45CE-856C-179437BE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페이지별 850자 · 140자 overlap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656EF-BC8D-4E45-A66E-8BE2FE7F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386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contract_id로 검색 범위 제한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EC0B0C-6628-4CB3-99A5-208CC1B7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672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page·chunk 메타데이터</a:t>
            </a:r>
          </a:p>
        </p:txBody>
      </p:sp>
    </p:spTree>
    <p:extLst>
      <p:ext uri="{BB962C8B-B14F-4D97-AF65-F5344CB8AC3E}">
        <p14:creationId xmlns:p14="http://schemas.microsoft.com/office/powerpoint/2010/main" val="19329287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88CCE7-0E39-4684-967C-29C88873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4. AI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72C8A-4FC1-472B-AA3D-EB30DA67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RAG 구조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0DA89-CFCF-4731-B06C-0CCCFB8D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2095500" y="22383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4714875" y="22383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7334250" y="22383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9953625" y="22383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BDBB2-C7B5-45A7-8463-A3F1C3F9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16002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BBB16-6A12-4A63-9125-95658990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질문·계약 원문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31B16-2960-4224-BB00-0064AC36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7D7E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7EC"/>
                </a:solidFill>
                <a:latin typeface="Arial"/>
                <a:ea typeface="Arial"/>
                <a:cs typeface="Arial"/>
              </a:rPr>
              <a:t>입력 문맥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6FACC-4D1B-48A7-8901-971B937C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62125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855A9-BF42-4A2A-84F8-154DCFBE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240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Ko-SRoBERTa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19932-1D7B-4A85-B911-86EEF6FC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23837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질의 임베딩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B8EC5F-EBE8-4814-BBF8-415361EB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CCB72-F810-41FF-815E-093E6E8A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240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ChromaDB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5AD40-A498-4DA4-AF99-1F685CBD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3837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계약·법령 검색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1F945-B422-4B06-BA23-4BD0801E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62125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778AAC-FA52-4414-A264-330823F9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9240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LangGraph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B6498-2CD5-4624-9008-C2CEA3DA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23837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분기·검증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1D44C-8109-434F-AB09-D525A410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762125"/>
            <a:ext cx="1047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FDD2FA-E9BA-4325-B215-5F65EC46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9240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FC9BE7-CE91-4E5C-8B6F-570321EE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23837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446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7D7E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7EC"/>
                </a:solidFill>
                <a:latin typeface="Arial"/>
                <a:ea typeface="Arial"/>
                <a:cs typeface="Arial"/>
              </a:rPr>
              <a:t>근거 기반 생성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2BAEE-BF60-4487-838A-5EC16F18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066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7CFA0E-46D0-4D3F-9BB4-93AAEC4D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Retrieval-Augmented Generation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760B8C-DC3C-496F-A859-7CCEB51C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7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모델이 기억에만 의존하지 않고, 현재 계약서 페이지와 공식 법령 조문을 프롬프트 문맥으로 받아 답변하도록 구성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A22BD0-0F4D-441A-823F-ED278BDC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계약 분석: 계약 원문 + 법령 RAG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EC5A71-D6AF-476E-9F36-63FDFA41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9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노동법 상담: 질문 문맥 + 법령 RAG</a:t>
            </a:r>
          </a:p>
        </p:txBody>
      </p:sp>
    </p:spTree>
    <p:extLst>
      <p:ext uri="{BB962C8B-B14F-4D97-AF65-F5344CB8AC3E}">
        <p14:creationId xmlns:p14="http://schemas.microsoft.com/office/powerpoint/2010/main" val="13058966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F30D9E-4B81-455B-9950-B578C6B0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4. AI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DAA57-8C6B-4592-B039-6A7392E1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LangGraph 워크플로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86C44-763B-4F33-9CA1-029CD2A1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F7FFD-49A3-4011-81E2-D60E22D1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계약 분석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2400300" y="22383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C411A-772D-49C5-BCF9-1CDA506F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1905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5E8E9-CD15-4F1C-A6BE-990A256F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F3DAB-0B82-463E-B215-BA6C713F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규칙 기준선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5067300" y="22383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D1E36-46FE-4E4E-AB3E-9DF006E4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05000"/>
            <a:ext cx="1905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1DFE5-E6B8-47E0-94E6-E6BEC0F9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669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retrieve_laws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079B7-44F8-4E65-A1C5-1FD7B39D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8125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법령 검색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7734300" y="22383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B1868-4EC3-488E-9ACE-FF63F184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05000"/>
            <a:ext cx="1905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14265-2695-4009-86EC-784AC447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669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llm_analyze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11B2C-4C4A-4353-A173-0CA11E40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8125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구조화 분석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B4FED-5287-4FC5-A046-3C064F5D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05000"/>
            <a:ext cx="1905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33FA4-7456-4688-B0AA-D92D0DCC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669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finalize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C2564F-C327-4944-9BE3-861CB2EE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후처리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07805D-643F-4F32-A31A-BDC1F1FF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노동법 상담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2114550" y="42862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6FB76D-D05D-4261-8C13-68FE7602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52875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2D324D-E8DC-45FD-9AA5-684F9133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>
            <a:off x="4286250" y="42862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89C3FD-D37F-428E-B997-32080231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52875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7659B2-63AD-4321-8B73-85A9A532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148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classify_issues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6457950" y="42862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7DC3D3-76A4-41D3-864D-1B1E086A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52875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4A4720-EB39-4AFC-9471-230A62DE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148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retrieve_laws</a:t>
            </a:r>
          </a:p>
        </p:txBody>
      </p:sp>
      <p:cxnSp>
        <p:nvCxnSpPr>
          <p:cNvPr id="68" name=""/>
          <p:cNvCxnSpPr/>
          <p:nvPr/>
        </p:nvCxnSpPr>
        <p:spPr>
          <a:xfrm xmlns:a="http://schemas.openxmlformats.org/drawingml/2006/main">
            <a:off x="8629650" y="42862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A1D514-4AEE-424A-B143-03F9F681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52875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CEBCDE-A81B-4CF4-B9FA-13114344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148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generate / stop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CADB88-02F7-45B2-A867-A8E9BF86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291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근거 부족 시 중단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306DBA-3745-4DC4-881C-1EF6A87F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52875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7B7DD5-B5FF-45E4-8E59-7BB16862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148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verify_sources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B3241E-9403-4464-AAF7-74322E45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조건 분기와 상태를 명시적으로 관리하므로 LLM 오류 시에도 규칙 기반 결과로 종료 가능</a:t>
            </a:r>
          </a:p>
        </p:txBody>
      </p:sp>
    </p:spTree>
    <p:extLst>
      <p:ext uri="{BB962C8B-B14F-4D97-AF65-F5344CB8AC3E}">
        <p14:creationId xmlns:p14="http://schemas.microsoft.com/office/powerpoint/2010/main" val="17786354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F0BC34-B13C-4441-9E39-A4B2B426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4. AI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CB8E7-6434-49F1-89A6-D110D958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프롬프트 설계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5D0B1-57AA-42ED-B10B-53BAA236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B9BE4-DC49-4B7C-9540-F04BD29C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7518A-5E58-434C-8E55-60B32A63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역할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2286000" y="16287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8E5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DBE6A-C285-4B43-AA67-FB4272DC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4478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대한민국 노동법 기반 분석 보조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A1473-67F7-4FD4-835E-087A66DB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57425"/>
            <a:ext cx="342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70A2E-5159-4C72-9AE5-575CF55F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입력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2286000" y="24098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8E5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E6D54-FA32-44EE-9558-2C7F0722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28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계약 원문·체크리스트·검색 법령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06A61-BD7C-492F-AFDF-F5DE9CD7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38475"/>
            <a:ext cx="342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E1E7A-621F-4478-B88B-EA9E6B04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출력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2286000" y="31908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8E5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6413E1-92BE-4561-89B4-44103F13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09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JSON 스키마·결론 우선 자연어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61B57-20D3-42B4-963B-CB9F6F1D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9525"/>
            <a:ext cx="342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CE960-381A-46CD-9ACB-7DF41DAF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95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제약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2286000" y="39719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8E5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2988D6-735D-4875-9212-5B298EE3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90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근거 없는 단정 금지·사용 출처만 표시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8D06B-D58F-44AC-A3F9-78E89045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00575"/>
            <a:ext cx="342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223FD-AA50-4EF0-867C-2213881B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005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검증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2286000" y="47529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8E5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FF4D1D-D0D8-4F29-8D12-F43E2943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572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체크리스트 충돌·법령 인용 일치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18ABCC-A6BC-419E-9AE0-F22B5A28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10668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489EA6-C39C-49D2-9C21-656C2FA3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상담 답변 지침: 첫 문장에 결론 → 법적 근거 → 예외 → 질문과 연결된 추가 확인사항</a:t>
            </a:r>
          </a:p>
        </p:txBody>
      </p:sp>
    </p:spTree>
    <p:extLst>
      <p:ext uri="{BB962C8B-B14F-4D97-AF65-F5344CB8AC3E}">
        <p14:creationId xmlns:p14="http://schemas.microsoft.com/office/powerpoint/2010/main" val="4634640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938F3-990E-4F6B-8D95-0E38B1C5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5BDF5-A150-4278-B248-00625BA0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B8B83-E96D-407A-9C3A-33D609F9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556A3-9E4C-4D3A-BA62-464408BE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서비스 구현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590550" y="3476625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769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A2426-917D-4533-898D-677E855F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8C7D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7DB"/>
                </a:solidFill>
                <a:latin typeface="Arial"/>
                <a:ea typeface="Arial"/>
                <a:cs typeface="Arial"/>
              </a:rPr>
              <a:t>사용자 기능과 AI 결과를 실제 화면·이력·리포트로 연결</a:t>
            </a:r>
          </a:p>
        </p:txBody>
      </p:sp>
    </p:spTree>
    <p:extLst>
      <p:ext uri="{BB962C8B-B14F-4D97-AF65-F5344CB8AC3E}">
        <p14:creationId xmlns:p14="http://schemas.microsoft.com/office/powerpoint/2010/main" val="14264717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BBED17-0358-4E8A-84F7-57C0F0C1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5. 서비스 구현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CBA23-18E6-4178-95F2-75C7C8C4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회원 기능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4111F-371C-44BF-99A2-19A1DAD2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BCB2D-6E3E-4E82-9D25-C1C17718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가입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95300" y="20478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A0DF7-1D6A-4324-ABDA-3D6DE2CF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필수 약관 동의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이메일 중복·비밀번호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7F8D7-E8F1-410D-8C02-43A244F0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192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로그인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2647950" y="20478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E8A80-C57E-4950-9448-88CC0C7A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33625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JWT·보호 경로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Google/Naver OAuth2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0ECF9-AD55-448F-AE9A-B5CE382C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192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복구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800600" y="20478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FA7C9-E433-4823-831D-8D3F095C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33625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아이디 찾기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비밀번호 재설정 토큰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CCEC8-B1ED-4B63-9E5A-F88D8FD7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마이페이지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6953250" y="20478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A14CD-81FB-4AD3-A393-C7547200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정보 수정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분석·상담 이력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F4644-3A8B-4EF3-8A52-25230678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192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탈퇴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9105900" y="20478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A3D5A-BF44-4753-9E7E-F7510DB1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33625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본인 확인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관련 데이터 정리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C617F-18C1-4896-AB44-87B3951C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10668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8E9102-AC7C-4B0E-B972-85D2AB29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보안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ADECF4-8941-42C1-B308-72605DF3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19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BCrypt 해시 · JWT 필터 · Principal 기반 사용자 식별 · OAuth 티켓 교환 · 비밀값 환경변수 분리</a:t>
            </a:r>
          </a:p>
        </p:txBody>
      </p:sp>
    </p:spTree>
    <p:extLst>
      <p:ext uri="{BB962C8B-B14F-4D97-AF65-F5344CB8AC3E}">
        <p14:creationId xmlns:p14="http://schemas.microsoft.com/office/powerpoint/2010/main" val="512536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C10F22-908B-421C-9426-3B6C00C2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5. 서비스 구현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9F822-9CB9-43F0-9BD9-1ED4A356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계약서 분석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79735-7365-41E8-B341-31787DF8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1971675" y="2238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B6F70-29C2-4508-B02E-357B7550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33EEE-79EC-43B7-BECA-74F3E783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209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PDF 업로드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82A22-C734-4BAB-B23F-915987ED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1209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선택·드롭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3838575" y="2238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31C6F-1735-4574-81A3-5C920BAB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09750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C88C2-E16A-43C6-A2D8-26682B20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71675"/>
            <a:ext cx="1209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페이지 추출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0FF29-E71C-40C7-85CC-A6DBFCB3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86000"/>
            <a:ext cx="1209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텍스트·좌표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5705475" y="2238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E41FF-2911-40F1-A884-B168AD7F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B1FC70-1FFC-44D1-8596-65ACF0F7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71675"/>
            <a:ext cx="1209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위험 규칙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7572375" y="2238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AAD20-6F40-4CD8-B153-62423EF2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7F308-DC16-4558-98C1-B9A3FE77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71675"/>
            <a:ext cx="1209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법령 검색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9439275" y="2238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0F6BD-1F5D-4A8A-8689-88CE4E4D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4C377B-102A-49D0-BA86-6AB5DE55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71675"/>
            <a:ext cx="1209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LLM 검증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68A319-8518-4AA6-87AA-A27F0668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09750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A91E29-232C-4D59-853F-420775F8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71675"/>
            <a:ext cx="1209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결과 저장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7A7957-F233-4617-80F2-18D6CD72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286000"/>
            <a:ext cx="1209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7D7E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7EC"/>
                </a:solidFill>
                <a:latin typeface="Arial"/>
                <a:ea typeface="Arial"/>
                <a:cs typeface="Arial"/>
              </a:rPr>
              <a:t>MariaDB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836B55-E96F-49FD-8DBF-2A5321A8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결과 구성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DC254F-715B-47B0-B22C-F686FD94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5287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종합 위험 점수와 SAFE·LOW·MEDIUM·HIGH 등급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575616-ECDA-43C9-BB20-4651CC1F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표준근로계약서 체크리스트와 근거 페이지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25764B-3762-48C5-AF94-2D15FE36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01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위험 원문·판단 이유·권고·안전한 대체 문구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FA40CA-AB1D-48AD-8195-A5BC54F7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528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PDF 페이지 하이라이트·계약 질문·리포트 다운로드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99192B-BA72-4C97-81D9-0053A8F5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검토 필요는 위험 점수에서 제외하고 별도 건수 표시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044BB6-9B8F-45D3-ACF7-5E8689B5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같은 원문의 유사 위험 병합으로 중복 가점 방지</a:t>
            </a:r>
          </a:p>
        </p:txBody>
      </p:sp>
    </p:spTree>
    <p:extLst>
      <p:ext uri="{BB962C8B-B14F-4D97-AF65-F5344CB8AC3E}">
        <p14:creationId xmlns:p14="http://schemas.microsoft.com/office/powerpoint/2010/main" val="77322929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B4604-ED3A-421E-9919-48963A6B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5. 서비스 구현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2E761-47EF-441C-B4E0-57A2B692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법령 검색과 질의응답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04780-9684-40A5-8D61-35592EF5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67905-7CC9-4FBF-AB3A-39216D4A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509587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28530-E9A2-4821-86F5-0EB52CAA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계약서 질문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E2DA9-3E42-4922-B475-F26FDA66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해당 계약의 chunk만 검색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1714500" y="2857500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ECAAF-6014-4800-956C-0AF2E872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계약 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69846-F3D7-4B0A-8122-346ED4EA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90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법령 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D926B-C90D-4ADB-AFC3-261B3C97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답변 + 계약 페이지 + 법령 출처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EE6B1-8A14-42BD-8650-C40ED234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76375"/>
            <a:ext cx="509587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F0295-B65F-4301-BE80-77D624A9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62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노동법 AI 상담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4E9DAD-F6BE-40A8-8844-CD4B39F5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현재 질문과 필요한 대화만 문맥화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EA9EF-A81A-467C-BBBF-0C47603D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03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범위 판정 → 법령 검색 → 근거 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CA169-397A-43F7-9335-0BF88533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67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근거 부족 시 LLM 호출 중단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BA45E-FC47-4929-9531-180DCA88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338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결론 우선 답변 + 실제 사용 출처</a:t>
            </a:r>
          </a:p>
        </p:txBody>
      </p:sp>
    </p:spTree>
    <p:extLst>
      <p:ext uri="{BB962C8B-B14F-4D97-AF65-F5344CB8AC3E}">
        <p14:creationId xmlns:p14="http://schemas.microsoft.com/office/powerpoint/2010/main" val="782518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B1824E-4B54-42E1-B9DF-E7CAC030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5. 서비스 구현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32DA9-B8DD-49FB-A276-9187E6E3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관리자 기능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ED5D8-D58E-49F7-BE41-1A4B7A2E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61EA7-559D-4BA4-8FAE-FEFACA71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현재 구현 범위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57C3A-AE53-4874-9776-88ACAD65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43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법령 동기화·재임베딩 스크립트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2A8BF-3796-4F78-9415-278021C6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193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AI·백엔드 상태 확인과 오류 로그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EB914-DEF4-4B01-99A0-976C2F37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95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MariaDB 기반 회원·계약·이력 데이터 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3A36F-8F96-4CE7-A5DD-51A294E1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회귀 테스트와 corpus hash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757A8-8F43-4C76-B530-704BFF8D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4857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B0C1A-3465-4EB5-A9FC-4645285C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9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배포 후 관리자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57D09-57FC-489A-BA7E-F7202F30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사용자·계약·분석 상태 대시보드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9237A-B00D-41AA-9A66-5EB535C9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법령 데이터 버전·동기화 상태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0C217-312F-455B-B47C-0642C529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33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실패 작업 재처리·운영 통계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DE7E8-EF6F-43BF-8C5C-307C9DA4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10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신고·문의 및 데이터 보관 정책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DF477-342D-4C2D-AF25-AF1F1891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10553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8F9F3-4BDC-4A4C-960A-E803B868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※ 전용 관리자 UI는 현재 미구현이며, 운영 스크립트와 로그 중심 기능을 향후 화면화</a:t>
            </a:r>
          </a:p>
        </p:txBody>
      </p:sp>
    </p:spTree>
    <p:extLst>
      <p:ext uri="{BB962C8B-B14F-4D97-AF65-F5344CB8AC3E}">
        <p14:creationId xmlns:p14="http://schemas.microsoft.com/office/powerpoint/2010/main" val="17932304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3B963-E216-4E42-BB0A-B9D2FB9F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5B6D4-51C6-445A-BFB5-AA664981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3BD9E-CDE7-4033-B382-A12361D8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SOLVING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437E4-11EB-4E08-9A60-B49168B2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문제 해결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590550" y="3476625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769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DF667-4B35-447A-BAA2-654D57E3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8C7D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7DB"/>
                </a:solidFill>
                <a:latin typeface="Arial"/>
                <a:ea typeface="Arial"/>
                <a:cs typeface="Arial"/>
              </a:rPr>
              <a:t>오류를 임시 예외가 아니라 구조·검증·회귀 테스트로 해결</a:t>
            </a:r>
          </a:p>
        </p:txBody>
      </p:sp>
    </p:spTree>
    <p:extLst>
      <p:ext uri="{BB962C8B-B14F-4D97-AF65-F5344CB8AC3E}">
        <p14:creationId xmlns:p14="http://schemas.microsoft.com/office/powerpoint/2010/main" val="90773342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EFAD3C-974F-4C35-93F0-CD4549F7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6. 문제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19FE0-0C94-4648-A829-40079798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트러블슈팅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8124A-B577-4F4A-A5C2-67C35DBA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917B8-BC80-4353-B0CF-28967D45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95300" y="19526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1DBD9-C584-4434-8A90-66F58F70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비동기 상태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1B189-7F77-4684-B88C-484C263B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14625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취소 후 처리 중 고정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7FC03-5B91-422C-A62B-3C089C7B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7162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2647950" y="19526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BD714-B25E-4A2D-A074-B09D06C5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383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DB·OAuth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5751B-27EE-4972-8995-34A21ADD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14625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enum 제약·Lazy 로딩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BFF52-9B07-4F79-A3FE-B537555A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7162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800600" y="19526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CD4CF-E5AA-43C1-9770-6EEE53C8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383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분석 정합성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BED6CE-6436-4B72-A744-BEB21BC7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14625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부정문·누락·근거 충돌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CBFB0-2F70-47A8-9E20-CED2E241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6953250" y="19526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29068-92D7-47F5-AEBB-18554B6B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383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상담 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3F2907-726E-4281-B34B-F8A5CD86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질문 오염·범위 오판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52234-84EF-4BCD-876D-4EF03A47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7162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9105900" y="19526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9BCBD3-F3B1-4119-895A-F89ABF10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383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PDF·UI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C8EA5-288C-418E-91EF-8137125A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14625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표 넘침·전체 하이라이트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3EB26F-7C95-4B57-B7EF-158A987C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33875"/>
            <a:ext cx="10668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C9650A-044C-4E03-B874-56A68F63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해결 원칙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6D0CC2-9BE1-48C7-B529-452229D1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243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재현 → 경계 추적 → 원인 분리 → 후처리 검증 → 회귀 데이터 고정</a:t>
            </a:r>
          </a:p>
        </p:txBody>
      </p:sp>
    </p:spTree>
    <p:extLst>
      <p:ext uri="{BB962C8B-B14F-4D97-AF65-F5344CB8AC3E}">
        <p14:creationId xmlns:p14="http://schemas.microsoft.com/office/powerpoint/2010/main" val="108108524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DB8E35-9D18-48D2-8E5A-A4FC2565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6. 문제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88E20-8EB6-4E27-AD5F-E009AB25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분석 정합성 개선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EB5DD-3F96-44B5-9AE4-DD418585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E3418-188F-4939-B19C-03A7350F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528C2-9A55-404E-B674-9150156A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478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06298-5742-417C-8035-423BD4A3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24000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39938-4368-46C4-9E60-3F2FE398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478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근본 원인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34E80-EFEC-45E5-B0CE-AA0029AB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524000"/>
            <a:ext cx="428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62F57-7B24-49A6-9392-9DC8F503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478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해결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24612-D412-4B01-99FB-796797EF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6AEBF-ED62-4CE6-A5E6-3BBC5DF6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‘공제하지 않는다’ 오탐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E29A8-B9B4-46EF-A4A5-4E6EBF00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62200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C987E-1038-4A00-BDB3-C2B3CBAC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574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위험 단어만 탐지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5AA0E-D0CF-4382-AA9F-4273E98D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428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8186C-1B98-43FE-A8BD-5DED6E70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574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주체·행위·대상·부정 구조 판정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D3369-493D-4FAD-9276-93167618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040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60450-2D74-4532-8C2F-DDE267E4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근무시간·휴일 누락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8D7CC7-0FD3-46A3-85B8-E6A8EE4F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00400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80051-B92B-40F1-8F8E-F0BDC781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956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동의어·요일 의미 미반영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20BDB-AAC4-4F7F-999B-92145A87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00400"/>
            <a:ext cx="428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9AF25E-2B69-4D62-9404-1130E2BF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956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용어 정규화·요일 해석·충돌 검사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ABEA2-C941-4542-A039-8A180E2B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CA660F-3D8B-4903-ACD0-A2A40CD5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이미 기재된 내용 재권고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E0021-7BF2-49DF-A881-C5A7A2CF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38600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8EA362-7B07-4BB5-AA95-C9E5C84C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338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체크리스트와 LLM 독립 병합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D1EF6F-4C26-43F6-BF4C-72056BDC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38600"/>
            <a:ext cx="428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BDEA92-4559-4319-9560-B8E12244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338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체크리스트–LLM 후처리 검증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F4604A-9B01-4A99-A086-A7427B7D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7680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D0A598-4CDF-477C-B9D5-63DCB1BB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HIGH 등급 편중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B91C18-C902-4BC6-A283-AD1375B1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76800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3685AB-470B-4B7D-AC44-302EC17A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720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LLM 점수·중복·검토 필요 가점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538427-7BAD-42EB-8181-34DCAD54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76800"/>
            <a:ext cx="428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C78B68-CC07-4AE5-98F2-40C37891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720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검증 조항 재계산·중복 병합·검토 필요 분리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F0644B-3A95-4CB7-BF70-D2E599C6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10668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C59BA8-A418-47A7-AECC-0DC6586B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성과: 단어 매칭 중심 판정에서 의미 구조와 교차 검증 중심 판정으로 전환</a:t>
            </a:r>
          </a:p>
        </p:txBody>
      </p:sp>
    </p:spTree>
    <p:extLst>
      <p:ext uri="{BB962C8B-B14F-4D97-AF65-F5344CB8AC3E}">
        <p14:creationId xmlns:p14="http://schemas.microsoft.com/office/powerpoint/2010/main" val="204671542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F1C0F-331E-4EE7-8501-EBE54FE8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6. 문제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6D761-F57D-4261-BEDE-81E5AE23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비동기·상담 RAG 개선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459C8-B018-4A32-84F9-C630F081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45B76-C243-4C43-B8D9-44D1DB3C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2D20"/>
                </a:solidFill>
                <a:latin typeface="Arial"/>
                <a:ea typeface="Arial"/>
                <a:cs typeface="Arial"/>
              </a:rPr>
              <a:t>분석 취소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C8C18-B35D-47D3-988D-451DE124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원인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3297B-8A10-47CE-9E16-01069A92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478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3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Future 취소와 DB 상태가 분리되어 완료 결과가 다시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C7097-CE4E-42DF-8F70-166DCD81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해결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06AED-960A-43DD-9578-A2DDB424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98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1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취소 플래그·결과 저장 차단·UI 폴링 종료를 함께 동기화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5905500" y="1476375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62C87-D8F0-4B2F-ACF3-84C0C20C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노동법 상담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70FE8-5F8F-4F7D-98F9-940B136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원인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9551A-67DA-49CA-9342-D94E8499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478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이전 대화 과결합·키워드 화이트리스트·근거 부족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48835-D27F-439C-94BF-4BCC603B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해결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8A3AD-B4A9-43F8-ABE9-65579C4C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0987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주제별 문맥 선택·RAG 관련도 범위 판정·근거 부족 시 LLM 중단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058A8-7CC3-47C7-B06E-08EE9667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38625"/>
            <a:ext cx="106299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A1462-E192-4508-95FA-C831A2DF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재발 방지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96E71-F00E-47AF-B88E-8FEDC237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2912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상태 전이 테스트 + 질문·필수 출처 회귀 데이터 + 답변 문장·인용 법령 일치 검증</a:t>
            </a:r>
          </a:p>
        </p:txBody>
      </p:sp>
    </p:spTree>
    <p:extLst>
      <p:ext uri="{BB962C8B-B14F-4D97-AF65-F5344CB8AC3E}">
        <p14:creationId xmlns:p14="http://schemas.microsoft.com/office/powerpoint/2010/main" val="76885636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488E4-6789-455A-9ED5-1FCE9C16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6. 문제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0FFF9-E4B2-42BB-AE5E-1FEED4A6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성능 개선과 예외 처리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1A618-00C6-4EB5-9296-9F5670B0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C381E-6D67-4D35-9907-84786F4B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성능 개선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2047875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5BE3D-6D4F-49F6-A0E5-D64FB4B2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PDF 최초 분석 시 계약 chunk 1회 적재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이후 질문은 저장 벡터 재사용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법령 corpus 변경 시에만 재임베딩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결과 영역·이력 영역 독립 스크롤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181E1-5838-4A66-9DCA-551D8562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예외 처리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210050" y="2047875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4C502-91D6-487D-8116-75CDEBED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33625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파일 형식·크기 검증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LLM 실패 시 규칙 기반 폴백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근거 부족 시 생성 중단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GlobalExceptionHandler 오류 표준화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7204B-FDB2-492D-BA71-862E110B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716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운영 안정성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7924800" y="2047875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6E705-8D4C-43EE-ADBC-BCB5B6EA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corpus SHA-256 검증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분석 상태 폴링·취소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OAuth 티켓 만료·단회 사용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환경변수와 .env 분리</a:t>
            </a:r>
          </a:p>
        </p:txBody>
      </p:sp>
    </p:spTree>
    <p:extLst>
      <p:ext uri="{BB962C8B-B14F-4D97-AF65-F5344CB8AC3E}">
        <p14:creationId xmlns:p14="http://schemas.microsoft.com/office/powerpoint/2010/main" val="61537148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1F0A2-DAB6-4A59-928B-B1A8ACFD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38966-1558-485C-9D3D-B2247C2A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44406-3C2D-4736-918D-79802632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E2584-50AB-435E-B270-834A1E41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프로젝트 결과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590550" y="3476625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769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C26BA-3C7C-487A-BE3F-0366D60C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8C7D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7DB"/>
                </a:solidFill>
                <a:latin typeface="Arial"/>
                <a:ea typeface="Arial"/>
                <a:cs typeface="Arial"/>
              </a:rPr>
              <a:t>구현 범위와 테스트 성과를 확인하고 남은 과제를 정리</a:t>
            </a:r>
          </a:p>
        </p:txBody>
      </p:sp>
    </p:spTree>
    <p:extLst>
      <p:ext uri="{BB962C8B-B14F-4D97-AF65-F5344CB8AC3E}">
        <p14:creationId xmlns:p14="http://schemas.microsoft.com/office/powerpoint/2010/main" val="168949653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07E42-5E3F-41BD-A3C6-A537EF5C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7. 프로젝트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3FB4E-B0E8-4281-8F5C-0804F4CD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구현 결과와 성과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71ED3-49D7-4453-B64B-D9AF6AE6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6BBD6-C6BB-4B46-9A6C-0C7CA618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88308-E45E-47A2-959F-851E4401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193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AI 테스트 통과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07549-9ED7-4517-9747-6265ACFD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F430C-F33B-41FB-9389-B71FC6A6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193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백엔드 테스트 통과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F7374-A34B-4BCF-A1EE-9BB7F221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27685-9093-4C0B-BEB6-E81EDFC5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193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상담 회귀 통과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2EAEA-223F-40A2-8C05-05CA9993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716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1821F-F071-4FE8-93A0-2C087F55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193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프론트 빌드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95300" y="3190875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C2F33-807E-43FA-BA62-A1FD8102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완성 범위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6EC38-2F73-4E34-B88D-68FF5AE7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회원·OAuth·계정 복구·마이페이지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EAAD0F-EE72-47C9-8A44-C6E41411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PDF 분석·하이라이트·수정 문구·리포트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FBB00A-ECBC-4244-80A8-48D6DCEF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053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계약 Q&amp;A·노동법 상담·이력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F987F-4266-4367-99F2-D23CA5AD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45개 법령·12,377 레코드 공식 데이터 파이프라인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2C25E-34AC-4DBB-9F14-461FD226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규칙·RAG·LLM 상호 검증과 회귀 데이터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92931-7F57-4870-9B75-99FC5D00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분석 취소·재분석·오류 폴백</a:t>
            </a:r>
          </a:p>
        </p:txBody>
      </p:sp>
    </p:spTree>
    <p:extLst>
      <p:ext uri="{BB962C8B-B14F-4D97-AF65-F5344CB8AC3E}">
        <p14:creationId xmlns:p14="http://schemas.microsoft.com/office/powerpoint/2010/main" val="132626127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92194-91D5-40FC-B149-651F5622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7. 프로젝트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901BD-B250-410D-9E3B-9A2FC00A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한계점과 개선 계획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E70C5-3F81-41BE-8203-4D37DBEC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E61B1-9B67-4FD6-94C1-6E98A7C5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2D20"/>
                </a:solidFill>
                <a:latin typeface="Arial"/>
                <a:ea typeface="Arial"/>
                <a:cs typeface="Arial"/>
              </a:rPr>
              <a:t>현재 한계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C5A13-C877-4834-B865-AC08B60E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43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스캔 이미지 PDF OCR 미지원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1BD2A-2DAE-459F-8F53-59B5BAC4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193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임베딩 모델 비교·reranker 실험 부족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7B8CF-22D3-47D8-8FB3-D476AA7E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95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로컬 Gemma2:2b의 지연과 표현력 한계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DDB63-A44B-427F-86DA-7AE97F40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관리자 전용 UI와 운영 통계 미구현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9F535-ABA7-41FA-BB82-796A179D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개선 계획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D1CEB-BC82-4553-A7D4-3DC519AD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OCR·표 구조 추출과 좌표 정확도 개선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4FB98-6FC9-4CD6-8CBC-391E5E26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임베딩 벤치마크·하이브리드 검색·reranker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99D8D-B907-43FD-9FD9-04828439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5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배포 환경 LLM 교체·스트리밍 응답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AE235-4AA1-426E-A2CD-37997F2C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718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관리자 대시보드·모니터링·데이터 정책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8B77C-11DD-4A4F-B944-C4858DFB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05375"/>
            <a:ext cx="10744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2546B-E0F5-4FA2-8A82-1CC26A6E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우선순위: 배포 안정화 → 검색 정확도 측정 → OCR 확장 → 운영 관리자 기능</a:t>
            </a:r>
          </a:p>
        </p:txBody>
      </p:sp>
    </p:spTree>
    <p:extLst>
      <p:ext uri="{BB962C8B-B14F-4D97-AF65-F5344CB8AC3E}">
        <p14:creationId xmlns:p14="http://schemas.microsoft.com/office/powerpoint/2010/main" val="6516257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B7767-4534-4587-8D90-233A6062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62CB2-4F96-4DE6-86EB-5933A9C7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F095E-9377-4A66-8804-E9CC2AA6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A8317-6B87-49DA-8F45-D06BC3E9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마무리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590550" y="3476625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769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543BC-E46A-4CA6-8315-62217B06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8C7D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7DB"/>
                </a:solidFill>
                <a:latin typeface="Arial"/>
                <a:ea typeface="Arial"/>
                <a:cs typeface="Arial"/>
              </a:rPr>
              <a:t>기술 구현을 넘어 신뢰 가능한 법률 AI의 조건을 학습</a:t>
            </a:r>
          </a:p>
        </p:txBody>
      </p:sp>
    </p:spTree>
    <p:extLst>
      <p:ext uri="{BB962C8B-B14F-4D97-AF65-F5344CB8AC3E}">
        <p14:creationId xmlns:p14="http://schemas.microsoft.com/office/powerpoint/2010/main" val="14391770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B5ED3-6830-4722-8735-A40C490D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8.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4DDA6-B7C7-4A16-ACBB-DB8D8AB6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회고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FE001-7FF2-4B0A-A65D-15E81BA7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84D26-CF1F-4E26-8ACB-D3FCCD93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배운 점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95300" y="20955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ADAB6-07F6-44AA-B347-264CD0BF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238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LLM 출력 형식보다 데이터 경계와 검증 흐름이 더 중요</a:t>
            </a:r>
          </a:p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RAG는 검색 결과의 품질과 출처 관리까지 포함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D97A3-E3BE-49C2-9141-A157EA59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19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잘한 점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210050" y="20955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983C5-77D5-41C1-8B31-3B7815D9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3238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오류를 트러블슈팅 문서와 회귀 테스트로 축적</a:t>
            </a:r>
          </a:p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사용자 여정을 분석·질문·리포트까지 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FFEE9-21D0-42F6-85D1-CCBFDE85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다음 단계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7924800" y="20955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ED283-4A64-46E1-96F9-5FC7025D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3238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배포 환경에서 관측 가능성과 보안을 강화</a:t>
            </a:r>
          </a:p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정량 평가로 모델·검색 전략을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C9606-7FB0-41F8-AB0C-6B332F7A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E5F0A-5EE2-4C74-A794-86CA3268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최종 메시지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4B4F0-9AF8-4C74-9F61-02F90C48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LAWZIC은 ‘AI가 판단하는 서비스’보다 ‘근거와 검증 과정을 보여주는 서비스’를 목표로 완성</a:t>
            </a:r>
          </a:p>
        </p:txBody>
      </p:sp>
    </p:spTree>
    <p:extLst>
      <p:ext uri="{BB962C8B-B14F-4D97-AF65-F5344CB8AC3E}">
        <p14:creationId xmlns:p14="http://schemas.microsoft.com/office/powerpoint/2010/main" val="132332148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C124F-9053-4E4F-B429-4B983345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D779E-4ABF-44B3-BE7F-CEAE2AC3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LAWZIC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33F40-53F0-4D12-8EF0-1BD387AB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590550" y="3429000"/>
            <a:ext cx="101917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1769F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FA851-20E6-4B68-9C9A-6DC76EB0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8C7D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7DB"/>
                </a:solidFill>
                <a:latin typeface="Arial"/>
                <a:ea typeface="Arial"/>
                <a:cs typeface="Arial"/>
              </a:rPr>
              <a:t>프로젝트 구조 · AI 설계 · 구현 결과 · 향후 개선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E7DFB-6EE2-491E-8DD6-17719BF2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감사합니다.</a:t>
            </a:r>
          </a:p>
        </p:txBody>
      </p:sp>
    </p:spTree>
    <p:extLst>
      <p:ext uri="{BB962C8B-B14F-4D97-AF65-F5344CB8AC3E}">
        <p14:creationId xmlns:p14="http://schemas.microsoft.com/office/powerpoint/2010/main" val="1015309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2026-08-04T23:55:35.6290000Z</dcterms:created>
  <dcterms:modified xsi:type="dcterms:W3CDTF">2026-08-04T23:55:35.6290000Z</dcterms:modified>
</coreProperties>
</file>